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4"/>
  </p:notesMasterIdLst>
  <p:sldIdLst>
    <p:sldId id="256" r:id="rId5"/>
    <p:sldId id="462" r:id="rId6"/>
    <p:sldId id="463" r:id="rId7"/>
    <p:sldId id="464" r:id="rId8"/>
    <p:sldId id="465" r:id="rId9"/>
    <p:sldId id="466" r:id="rId10"/>
    <p:sldId id="467" r:id="rId11"/>
    <p:sldId id="468" r:id="rId12"/>
    <p:sldId id="461" r:id="rId13"/>
    <p:sldId id="469" r:id="rId14"/>
    <p:sldId id="470" r:id="rId15"/>
    <p:sldId id="471" r:id="rId16"/>
    <p:sldId id="472" r:id="rId17"/>
    <p:sldId id="473" r:id="rId18"/>
    <p:sldId id="474" r:id="rId19"/>
    <p:sldId id="475" r:id="rId20"/>
    <p:sldId id="476" r:id="rId21"/>
    <p:sldId id="477" r:id="rId22"/>
    <p:sldId id="478" r:id="rId23"/>
    <p:sldId id="487" r:id="rId24"/>
    <p:sldId id="479" r:id="rId25"/>
    <p:sldId id="480" r:id="rId26"/>
    <p:sldId id="482" r:id="rId27"/>
    <p:sldId id="481" r:id="rId28"/>
    <p:sldId id="486" r:id="rId29"/>
    <p:sldId id="483" r:id="rId30"/>
    <p:sldId id="484" r:id="rId31"/>
    <p:sldId id="485" r:id="rId32"/>
    <p:sldId id="48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733316EF-5C79-45B1-8BCF-C08055D411E9}">
          <p14:sldIdLst>
            <p14:sldId id="256"/>
            <p14:sldId id="462"/>
            <p14:sldId id="463"/>
            <p14:sldId id="464"/>
            <p14:sldId id="465"/>
            <p14:sldId id="466"/>
            <p14:sldId id="467"/>
            <p14:sldId id="468"/>
            <p14:sldId id="461"/>
            <p14:sldId id="469"/>
            <p14:sldId id="470"/>
            <p14:sldId id="471"/>
            <p14:sldId id="472"/>
            <p14:sldId id="473"/>
            <p14:sldId id="474"/>
            <p14:sldId id="475"/>
            <p14:sldId id="476"/>
            <p14:sldId id="477"/>
            <p14:sldId id="478"/>
            <p14:sldId id="487"/>
            <p14:sldId id="479"/>
            <p14:sldId id="480"/>
            <p14:sldId id="482"/>
            <p14:sldId id="481"/>
            <p14:sldId id="486"/>
            <p14:sldId id="483"/>
            <p14:sldId id="484"/>
            <p14:sldId id="485"/>
            <p14:sldId id="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9000"/>
    <a:srgbClr val="E8CC6D"/>
    <a:srgbClr val="5A6D65"/>
    <a:srgbClr val="C8B97C"/>
    <a:srgbClr val="D5B158"/>
    <a:srgbClr val="3B47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6247" autoAdjust="0"/>
  </p:normalViewPr>
  <p:slideViewPr>
    <p:cSldViewPr snapToGrid="0">
      <p:cViewPr>
        <p:scale>
          <a:sx n="75" d="100"/>
          <a:sy n="75" d="100"/>
        </p:scale>
        <p:origin x="1206" y="91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6" d="100"/>
          <a:sy n="86" d="100"/>
        </p:scale>
        <p:origin x="3786"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01FDB4-1A5D-4B9F-AF6A-52FA43DC7FCB}" type="datetimeFigureOut">
              <a:rPr lang="es-MX" smtClean="0"/>
              <a:t>13/01/2024</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1109B-DB30-4047-AA4B-24982097BA7D}" type="slidenum">
              <a:rPr lang="es-MX" smtClean="0"/>
              <a:t>‹#›</a:t>
            </a:fld>
            <a:endParaRPr lang="es-MX"/>
          </a:p>
        </p:txBody>
      </p:sp>
    </p:spTree>
    <p:extLst>
      <p:ext uri="{BB962C8B-B14F-4D97-AF65-F5344CB8AC3E}">
        <p14:creationId xmlns:p14="http://schemas.microsoft.com/office/powerpoint/2010/main" val="247572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solidFill>
          <a:srgbClr val="3B4742"/>
        </a:solidFill>
        <a:effectLst/>
      </p:bgPr>
    </p:bg>
    <p:spTree>
      <p:nvGrpSpPr>
        <p:cNvPr id="1" name=""/>
        <p:cNvGrpSpPr/>
        <p:nvPr/>
      </p:nvGrpSpPr>
      <p:grpSpPr>
        <a:xfrm>
          <a:off x="0" y="0"/>
          <a:ext cx="0" cy="0"/>
          <a:chOff x="0" y="0"/>
          <a:chExt cx="0" cy="0"/>
        </a:xfrm>
      </p:grpSpPr>
      <p:pic>
        <p:nvPicPr>
          <p:cNvPr id="4" name="Picture 3" descr="A red and white background with a cross in the center&#10;&#10;Description automatically generated">
            <a:extLst>
              <a:ext uri="{FF2B5EF4-FFF2-40B4-BE49-F238E27FC236}">
                <a16:creationId xmlns:a16="http://schemas.microsoft.com/office/drawing/2014/main" id="{4EA7B6E1-356A-D77A-2968-F4CC291A72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96690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29258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22121" y="397668"/>
            <a:ext cx="10525329" cy="5317332"/>
          </a:xfrm>
        </p:spPr>
        <p:txBody>
          <a:bodyPr anchor="ctr">
            <a:normAutofit/>
          </a:bodyPr>
          <a:lstStyle>
            <a:lvl1pPr algn="l">
              <a:lnSpc>
                <a:spcPct val="135000"/>
              </a:lnSpc>
              <a:defRPr sz="5400">
                <a:solidFill>
                  <a:schemeClr val="tx1"/>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822121" y="6121400"/>
            <a:ext cx="7026479" cy="438150"/>
          </a:xfrm>
        </p:spPr>
        <p:txBody>
          <a:bodyPr/>
          <a:lstStyle>
            <a:lvl1pPr marL="0" indent="0">
              <a:buNone/>
              <a:defRPr sz="2400" cap="all" spc="400" baseline="0">
                <a:solidFill>
                  <a:srgbClr val="E8CC6D"/>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8" name="Imagen 7" descr="Dibujo en blanco y negro&#10;&#10;Descripción generada automáticamente con confianza baja">
            <a:extLst>
              <a:ext uri="{FF2B5EF4-FFF2-40B4-BE49-F238E27FC236}">
                <a16:creationId xmlns:a16="http://schemas.microsoft.com/office/drawing/2014/main" id="{165B58CA-7C57-EBCB-9B5B-C0E7FC8F5B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13901" y="6089428"/>
            <a:ext cx="1672314" cy="444100"/>
          </a:xfrm>
          <a:prstGeom prst="rect">
            <a:avLst/>
          </a:prstGeom>
        </p:spPr>
      </p:pic>
    </p:spTree>
    <p:extLst>
      <p:ext uri="{BB962C8B-B14F-4D97-AF65-F5344CB8AC3E}">
        <p14:creationId xmlns:p14="http://schemas.microsoft.com/office/powerpoint/2010/main" val="330045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62BA4C-4B4C-352F-982B-462C48914E1A}"/>
              </a:ext>
            </a:extLst>
          </p:cNvPr>
          <p:cNvSpPr/>
          <p:nvPr userDrawn="1"/>
        </p:nvSpPr>
        <p:spPr>
          <a:xfrm>
            <a:off x="1168400" y="0"/>
            <a:ext cx="110236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ítulo 1">
            <a:extLst>
              <a:ext uri="{FF2B5EF4-FFF2-40B4-BE49-F238E27FC236}">
                <a16:creationId xmlns:a16="http://schemas.microsoft.com/office/drawing/2014/main" id="{55228655-8A01-4C21-2519-CA4F7EEB055E}"/>
              </a:ext>
            </a:extLst>
          </p:cNvPr>
          <p:cNvSpPr>
            <a:spLocks noGrp="1"/>
          </p:cNvSpPr>
          <p:nvPr>
            <p:ph type="title"/>
          </p:nvPr>
        </p:nvSpPr>
        <p:spPr>
          <a:xfrm>
            <a:off x="1676400" y="365125"/>
            <a:ext cx="9677399" cy="800945"/>
          </a:xfrm>
        </p:spPr>
        <p:txBody>
          <a:bodyPr/>
          <a:lstStyle>
            <a:lvl1pPr algn="l">
              <a:defRPr baseline="0">
                <a:solidFill>
                  <a:srgbClr val="BF9000"/>
                </a:solidFill>
                <a:effectLst/>
                <a:latin typeface="Montserrat SemiBold" panose="00000700000000000000" pitchFamily="2" charset="0"/>
              </a:defRPr>
            </a:lvl1pPr>
          </a:lstStyle>
          <a:p>
            <a:r>
              <a:rPr lang="es-ES" dirty="0"/>
              <a:t>Haga clic para modificar el estilo de título del patrón</a:t>
            </a:r>
            <a:endParaRPr lang="es-MX" dirty="0"/>
          </a:p>
        </p:txBody>
      </p:sp>
      <p:sp>
        <p:nvSpPr>
          <p:cNvPr id="4" name="Marcador de texto 3">
            <a:extLst>
              <a:ext uri="{FF2B5EF4-FFF2-40B4-BE49-F238E27FC236}">
                <a16:creationId xmlns:a16="http://schemas.microsoft.com/office/drawing/2014/main" id="{5BF85EFB-ECD7-05BB-421A-A69167FA1B7D}"/>
              </a:ext>
            </a:extLst>
          </p:cNvPr>
          <p:cNvSpPr>
            <a:spLocks noGrp="1"/>
          </p:cNvSpPr>
          <p:nvPr>
            <p:ph type="body" sz="quarter" idx="10"/>
          </p:nvPr>
        </p:nvSpPr>
        <p:spPr>
          <a:xfrm>
            <a:off x="1676400" y="1451295"/>
            <a:ext cx="9677400" cy="4790113"/>
          </a:xfrm>
        </p:spPr>
        <p:txBody>
          <a:bodyPr>
            <a:normAutofit/>
          </a:bodyPr>
          <a:lstStyle>
            <a:lvl1pPr>
              <a:lnSpc>
                <a:spcPct val="125000"/>
              </a:lnSpc>
              <a:spcAft>
                <a:spcPts val="2400"/>
              </a:spcAft>
              <a:defRPr sz="4400">
                <a:solidFill>
                  <a:schemeClr val="bg1">
                    <a:lumMod val="85000"/>
                    <a:lumOff val="15000"/>
                  </a:schemeClr>
                </a:solidFill>
                <a:latin typeface="Montserrat" panose="00000500000000000000" pitchFamily="2" charset="0"/>
              </a:defRPr>
            </a:lvl1pPr>
            <a:lvl2pPr>
              <a:lnSpc>
                <a:spcPct val="125000"/>
              </a:lnSpc>
              <a:spcAft>
                <a:spcPts val="2400"/>
              </a:spcAft>
              <a:defRPr sz="4000">
                <a:solidFill>
                  <a:schemeClr val="bg1">
                    <a:lumMod val="85000"/>
                    <a:lumOff val="15000"/>
                  </a:schemeClr>
                </a:solidFill>
                <a:latin typeface="Montserrat" panose="00000500000000000000" pitchFamily="2" charset="0"/>
              </a:defRPr>
            </a:lvl2pPr>
            <a:lvl3pPr>
              <a:lnSpc>
                <a:spcPct val="125000"/>
              </a:lnSpc>
              <a:spcAft>
                <a:spcPts val="2400"/>
              </a:spcAft>
              <a:defRPr sz="3600">
                <a:solidFill>
                  <a:schemeClr val="bg1">
                    <a:lumMod val="85000"/>
                    <a:lumOff val="15000"/>
                  </a:schemeClr>
                </a:solidFill>
                <a:latin typeface="Montserrat" panose="00000500000000000000" pitchFamily="2" charset="0"/>
              </a:defRPr>
            </a:lvl3pPr>
            <a:lvl4pPr>
              <a:lnSpc>
                <a:spcPct val="125000"/>
              </a:lnSpc>
              <a:spcAft>
                <a:spcPts val="2400"/>
              </a:spcAft>
              <a:defRPr sz="3200">
                <a:solidFill>
                  <a:schemeClr val="bg1">
                    <a:lumMod val="85000"/>
                    <a:lumOff val="15000"/>
                  </a:schemeClr>
                </a:solidFill>
                <a:latin typeface="Montserrat" panose="00000500000000000000" pitchFamily="2" charset="0"/>
              </a:defRPr>
            </a:lvl4pPr>
            <a:lvl5pPr>
              <a:lnSpc>
                <a:spcPct val="125000"/>
              </a:lnSpc>
              <a:spcAft>
                <a:spcPts val="2400"/>
              </a:spcAft>
              <a:defRPr sz="3200">
                <a:solidFill>
                  <a:schemeClr val="bg1">
                    <a:lumMod val="85000"/>
                    <a:lumOff val="15000"/>
                  </a:schemeClr>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Tree>
    <p:extLst>
      <p:ext uri="{BB962C8B-B14F-4D97-AF65-F5344CB8AC3E}">
        <p14:creationId xmlns:p14="http://schemas.microsoft.com/office/powerpoint/2010/main" val="4104134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228655-8A01-4C21-2519-CA4F7EEB055E}"/>
              </a:ext>
            </a:extLst>
          </p:cNvPr>
          <p:cNvSpPr>
            <a:spLocks noGrp="1"/>
          </p:cNvSpPr>
          <p:nvPr>
            <p:ph type="title"/>
          </p:nvPr>
        </p:nvSpPr>
        <p:spPr>
          <a:xfrm>
            <a:off x="453006" y="365125"/>
            <a:ext cx="10900793" cy="800945"/>
          </a:xfrm>
        </p:spPr>
        <p:txBody>
          <a:bodyPr/>
          <a:lstStyle>
            <a:lvl1pPr algn="r">
              <a:defRPr baseline="0">
                <a:solidFill>
                  <a:srgbClr val="E8CC6D"/>
                </a:solidFill>
                <a:latin typeface="Montserrat SemiBold" panose="00000700000000000000" pitchFamily="2" charset="0"/>
              </a:defRPr>
            </a:lvl1pPr>
          </a:lstStyle>
          <a:p>
            <a:r>
              <a:rPr lang="es-ES" dirty="0"/>
              <a:t>Haga clic para modificar el estilo de título del patrón</a:t>
            </a:r>
            <a:endParaRPr lang="es-MX" dirty="0"/>
          </a:p>
        </p:txBody>
      </p:sp>
      <p:sp>
        <p:nvSpPr>
          <p:cNvPr id="4" name="Marcador de texto 3">
            <a:extLst>
              <a:ext uri="{FF2B5EF4-FFF2-40B4-BE49-F238E27FC236}">
                <a16:creationId xmlns:a16="http://schemas.microsoft.com/office/drawing/2014/main" id="{5BF85EFB-ECD7-05BB-421A-A69167FA1B7D}"/>
              </a:ext>
            </a:extLst>
          </p:cNvPr>
          <p:cNvSpPr>
            <a:spLocks noGrp="1"/>
          </p:cNvSpPr>
          <p:nvPr>
            <p:ph type="body" sz="quarter" idx="10"/>
          </p:nvPr>
        </p:nvSpPr>
        <p:spPr>
          <a:xfrm>
            <a:off x="453006" y="1451295"/>
            <a:ext cx="10900794" cy="4790113"/>
          </a:xfrm>
        </p:spPr>
        <p:txBody>
          <a:bodyPr>
            <a:normAutofit/>
          </a:bodyPr>
          <a:lstStyle>
            <a:lvl1pPr>
              <a:lnSpc>
                <a:spcPct val="125000"/>
              </a:lnSpc>
              <a:spcAft>
                <a:spcPts val="2400"/>
              </a:spcAft>
              <a:defRPr sz="4400">
                <a:solidFill>
                  <a:schemeClr val="tx1"/>
                </a:solidFill>
                <a:latin typeface="Montserrat" panose="00000500000000000000" pitchFamily="2" charset="0"/>
              </a:defRPr>
            </a:lvl1pPr>
            <a:lvl2pPr>
              <a:lnSpc>
                <a:spcPct val="125000"/>
              </a:lnSpc>
              <a:spcAft>
                <a:spcPts val="2400"/>
              </a:spcAft>
              <a:defRPr sz="4000">
                <a:solidFill>
                  <a:schemeClr val="tx1"/>
                </a:solidFill>
                <a:latin typeface="Montserrat" panose="00000500000000000000" pitchFamily="2" charset="0"/>
              </a:defRPr>
            </a:lvl2pPr>
            <a:lvl3pPr>
              <a:lnSpc>
                <a:spcPct val="125000"/>
              </a:lnSpc>
              <a:spcAft>
                <a:spcPts val="2400"/>
              </a:spcAft>
              <a:defRPr sz="3600">
                <a:solidFill>
                  <a:schemeClr val="tx1"/>
                </a:solidFill>
                <a:latin typeface="Montserrat" panose="00000500000000000000" pitchFamily="2" charset="0"/>
              </a:defRPr>
            </a:lvl3pPr>
            <a:lvl4pPr>
              <a:lnSpc>
                <a:spcPct val="125000"/>
              </a:lnSpc>
              <a:spcAft>
                <a:spcPts val="2400"/>
              </a:spcAft>
              <a:defRPr sz="3200">
                <a:solidFill>
                  <a:schemeClr val="tx1"/>
                </a:solidFill>
                <a:latin typeface="Montserrat" panose="00000500000000000000" pitchFamily="2" charset="0"/>
              </a:defRPr>
            </a:lvl4pPr>
            <a:lvl5pPr>
              <a:lnSpc>
                <a:spcPct val="125000"/>
              </a:lnSpc>
              <a:spcAft>
                <a:spcPts val="2400"/>
              </a:spcAft>
              <a:defRPr sz="3200">
                <a:solidFill>
                  <a:schemeClr val="tx1"/>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Tree>
    <p:extLst>
      <p:ext uri="{BB962C8B-B14F-4D97-AF65-F5344CB8AC3E}">
        <p14:creationId xmlns:p14="http://schemas.microsoft.com/office/powerpoint/2010/main" val="260567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553674" y="879871"/>
            <a:ext cx="10674446" cy="5098257"/>
          </a:xfrm>
        </p:spPr>
        <p:txBody>
          <a:bodyPr anchor="ctr">
            <a:normAutofit/>
          </a:bodyPr>
          <a:lstStyle>
            <a:lvl1pPr algn="ctr">
              <a:lnSpc>
                <a:spcPct val="135000"/>
              </a:lnSpc>
              <a:defRPr sz="4000">
                <a:solidFill>
                  <a:schemeClr val="tx1"/>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4029444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Encabezado de secció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D1984-18EC-3271-9E13-347D49F3D50B}"/>
              </a:ext>
            </a:extLst>
          </p:cNvPr>
          <p:cNvSpPr/>
          <p:nvPr userDrawn="1"/>
        </p:nvSpPr>
        <p:spPr>
          <a:xfrm>
            <a:off x="1" y="1074057"/>
            <a:ext cx="12192000" cy="470988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914400" y="1320801"/>
            <a:ext cx="10313719" cy="4216398"/>
          </a:xfrm>
        </p:spPr>
        <p:txBody>
          <a:bodyPr anchor="ctr">
            <a:normAutofit/>
          </a:bodyPr>
          <a:lstStyle>
            <a:lvl1pPr algn="ctr">
              <a:lnSpc>
                <a:spcPct val="135000"/>
              </a:lnSpc>
              <a:defRPr sz="40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927652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B4742"/>
        </a:solidFill>
        <a:effectLst/>
      </p:bgPr>
    </p:bg>
    <p:spTree>
      <p:nvGrpSpPr>
        <p:cNvPr id="1" name=""/>
        <p:cNvGrpSpPr/>
        <p:nvPr/>
      </p:nvGrpSpPr>
      <p:grpSpPr>
        <a:xfrm>
          <a:off x="0" y="0"/>
          <a:ext cx="0" cy="0"/>
          <a:chOff x="0" y="0"/>
          <a:chExt cx="0" cy="0"/>
        </a:xfrm>
      </p:grpSpPr>
      <p:pic>
        <p:nvPicPr>
          <p:cNvPr id="9" name="Picture 8" descr="A red and black background&#10;&#10;Description automatically generated">
            <a:extLst>
              <a:ext uri="{FF2B5EF4-FFF2-40B4-BE49-F238E27FC236}">
                <a16:creationId xmlns:a16="http://schemas.microsoft.com/office/drawing/2014/main" id="{CEFD2B2F-5FA5-6731-E441-E4386F1D679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3DB29A-9567-452F-B6E9-31720CFDB69A}" type="datetimeFigureOut">
              <a:rPr lang="es-MX" smtClean="0"/>
              <a:t>13/01/2024</a:t>
            </a:fld>
            <a:endParaRPr lang="es-MX"/>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E7D430-150D-4B42-96A2-C567A201F998}" type="slidenum">
              <a:rPr lang="es-MX" smtClean="0"/>
              <a:t>‹#›</a:t>
            </a:fld>
            <a:endParaRPr lang="es-MX"/>
          </a:p>
        </p:txBody>
      </p:sp>
    </p:spTree>
    <p:extLst>
      <p:ext uri="{BB962C8B-B14F-4D97-AF65-F5344CB8AC3E}">
        <p14:creationId xmlns:p14="http://schemas.microsoft.com/office/powerpoint/2010/main" val="23448393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73" r:id="rId5"/>
    <p:sldLayoutId id="2147483667" r:id="rId6"/>
    <p:sldLayoutId id="2147483672" r:id="rId7"/>
  </p:sldLayoutIdLst>
  <p:txStyles>
    <p:titleStyle>
      <a:lvl1pPr algn="l" defTabSz="914400" rtl="0" eaLnBrk="1" latinLnBrk="0" hangingPunct="1">
        <a:lnSpc>
          <a:spcPct val="90000"/>
        </a:lnSpc>
        <a:spcBef>
          <a:spcPct val="0"/>
        </a:spcBef>
        <a:buNone/>
        <a:defRPr sz="4400" kern="1200">
          <a:solidFill>
            <a:schemeClr val="accent4">
              <a:lumMod val="40000"/>
              <a:lumOff val="60000"/>
            </a:schemeClr>
          </a:solidFill>
          <a:latin typeface="Yeseva One"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B47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19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red and white sign&#10;&#10;Description automatically generated">
            <a:extLst>
              <a:ext uri="{FF2B5EF4-FFF2-40B4-BE49-F238E27FC236}">
                <a16:creationId xmlns:a16="http://schemas.microsoft.com/office/drawing/2014/main" id="{22936304-9EBC-7282-8D0C-FA60C5A7B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09562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rmAutofit/>
          </a:bodyPr>
          <a:lstStyle/>
          <a:p>
            <a:r>
              <a:rPr lang="es-MX" dirty="0"/>
              <a:t>6 Busquen al Señor mientras puede ser hallado, Llámenlo en tanto que está cerca. </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Isaías 55:6–9 </a:t>
            </a:r>
          </a:p>
        </p:txBody>
      </p:sp>
    </p:spTree>
    <p:extLst>
      <p:ext uri="{BB962C8B-B14F-4D97-AF65-F5344CB8AC3E}">
        <p14:creationId xmlns:p14="http://schemas.microsoft.com/office/powerpoint/2010/main" val="1758239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Autofit/>
          </a:bodyPr>
          <a:lstStyle/>
          <a:p>
            <a:r>
              <a:rPr lang="es-MX" sz="4400" dirty="0"/>
              <a:t>7 Abandone el impío su camino, Y el hombre malvado sus pensamientos, Y vuélvase al Señor, Que tendrá de él compasión, Al Dios nuestro, Que será amplio en perdonar. </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Isaías 55:6–9 </a:t>
            </a:r>
          </a:p>
        </p:txBody>
      </p:sp>
    </p:spTree>
    <p:extLst>
      <p:ext uri="{BB962C8B-B14F-4D97-AF65-F5344CB8AC3E}">
        <p14:creationId xmlns:p14="http://schemas.microsoft.com/office/powerpoint/2010/main" val="3844708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rmAutofit fontScale="90000"/>
          </a:bodyPr>
          <a:lstStyle/>
          <a:p>
            <a:r>
              <a:rPr lang="es-MX" dirty="0"/>
              <a:t>8 «Porque Mis pensamientos no son los pensamientos de ustedes, Ni sus caminos son Mis caminos», declara el Señor.</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Isaías 55:6–9 </a:t>
            </a:r>
          </a:p>
        </p:txBody>
      </p:sp>
    </p:spTree>
    <p:extLst>
      <p:ext uri="{BB962C8B-B14F-4D97-AF65-F5344CB8AC3E}">
        <p14:creationId xmlns:p14="http://schemas.microsoft.com/office/powerpoint/2010/main" val="760882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rmAutofit fontScale="90000"/>
          </a:bodyPr>
          <a:lstStyle/>
          <a:p>
            <a:r>
              <a:rPr lang="es-MX" dirty="0"/>
              <a:t>9 «Porque como los cielos son más altos que la tierra, Así Mis caminos son más altos que sus caminos, Y Mis pensamientos más que sus pensamientos. ‌</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Isaías 55:6–9 </a:t>
            </a:r>
          </a:p>
        </p:txBody>
      </p:sp>
    </p:spTree>
    <p:extLst>
      <p:ext uri="{BB962C8B-B14F-4D97-AF65-F5344CB8AC3E}">
        <p14:creationId xmlns:p14="http://schemas.microsoft.com/office/powerpoint/2010/main" val="2752427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FCBA14-356F-37B4-AAA1-1474F2E577C6}"/>
              </a:ext>
            </a:extLst>
          </p:cNvPr>
          <p:cNvSpPr>
            <a:spLocks noGrp="1"/>
          </p:cNvSpPr>
          <p:nvPr>
            <p:ph type="title"/>
          </p:nvPr>
        </p:nvSpPr>
        <p:spPr/>
        <p:txBody>
          <a:bodyPr/>
          <a:lstStyle/>
          <a:p>
            <a:r>
              <a:rPr lang="es-MX" dirty="0"/>
              <a:t>Para pensar:</a:t>
            </a:r>
          </a:p>
        </p:txBody>
      </p:sp>
      <p:sp>
        <p:nvSpPr>
          <p:cNvPr id="5" name="Text Placeholder 4">
            <a:extLst>
              <a:ext uri="{FF2B5EF4-FFF2-40B4-BE49-F238E27FC236}">
                <a16:creationId xmlns:a16="http://schemas.microsoft.com/office/drawing/2014/main" id="{7D6C69A6-595C-0FDE-9B10-2A6E3108952F}"/>
              </a:ext>
            </a:extLst>
          </p:cNvPr>
          <p:cNvSpPr>
            <a:spLocks noGrp="1"/>
          </p:cNvSpPr>
          <p:nvPr>
            <p:ph type="body" sz="quarter" idx="10"/>
          </p:nvPr>
        </p:nvSpPr>
        <p:spPr>
          <a:xfrm>
            <a:off x="1676400" y="1451295"/>
            <a:ext cx="9677400" cy="5041580"/>
          </a:xfrm>
        </p:spPr>
        <p:txBody>
          <a:bodyPr>
            <a:normAutofit fontScale="85000" lnSpcReduction="20000"/>
          </a:bodyPr>
          <a:lstStyle/>
          <a:p>
            <a:r>
              <a:rPr lang="es-MX" dirty="0"/>
              <a:t>¿Cuál es tu primera reacción a lo que dice este pasaje?</a:t>
            </a:r>
          </a:p>
          <a:p>
            <a:r>
              <a:rPr lang="es-MX" dirty="0"/>
              <a:t>Para ti, ¿qué es lo que destaca?</a:t>
            </a:r>
          </a:p>
          <a:p>
            <a:r>
              <a:rPr lang="es-MX" dirty="0"/>
              <a:t>¿Qué es lo que dice acerca de Dios ?</a:t>
            </a:r>
          </a:p>
          <a:p>
            <a:r>
              <a:rPr lang="es-MX" dirty="0"/>
              <a:t>¿Qué es lo que dice acerca de nosotros?</a:t>
            </a:r>
          </a:p>
        </p:txBody>
      </p:sp>
    </p:spTree>
    <p:extLst>
      <p:ext uri="{BB962C8B-B14F-4D97-AF65-F5344CB8AC3E}">
        <p14:creationId xmlns:p14="http://schemas.microsoft.com/office/powerpoint/2010/main" val="4134609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rmAutofit/>
          </a:bodyPr>
          <a:lstStyle/>
          <a:p>
            <a:r>
              <a:rPr lang="es-MX" dirty="0"/>
              <a:t>¿A quién, pues, asemejarán a Dios, O con qué semejanza lo compararán?</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Isaías 40:18</a:t>
            </a:r>
          </a:p>
        </p:txBody>
      </p:sp>
    </p:spTree>
    <p:extLst>
      <p:ext uri="{BB962C8B-B14F-4D97-AF65-F5344CB8AC3E}">
        <p14:creationId xmlns:p14="http://schemas.microsoft.com/office/powerpoint/2010/main" val="3475999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990726" y="3912221"/>
            <a:ext cx="7674790" cy="1486369"/>
          </a:xfrm>
          <a:prstGeom prst="rect">
            <a:avLst/>
          </a:prstGeom>
          <a:noFill/>
        </p:spPr>
        <p:txBody>
          <a:bodyPr wrap="square" rtlCol="0">
            <a:spAutoFit/>
          </a:bodyPr>
          <a:lstStyle/>
          <a:p>
            <a:pPr algn="ctr">
              <a:lnSpc>
                <a:spcPct val="150000"/>
              </a:lnSpc>
            </a:pPr>
            <a:r>
              <a:rPr lang="es-MX" sz="3200" dirty="0">
                <a:ln w="0"/>
                <a:effectLst>
                  <a:outerShdw blurRad="38100" dist="19050" dir="2700000" algn="tl" rotWithShape="0">
                    <a:schemeClr val="dk1">
                      <a:alpha val="40000"/>
                    </a:schemeClr>
                  </a:outerShdw>
                </a:effectLst>
                <a:latin typeface="Montserrat SemiBold" panose="00000700000000000000" pitchFamily="2" charset="0"/>
              </a:rPr>
              <a:t>TOTALMENTE DIFERENTE A NOSOTROS E INCOMPARABLE</a:t>
            </a:r>
          </a:p>
        </p:txBody>
      </p:sp>
      <p:sp>
        <p:nvSpPr>
          <p:cNvPr id="2" name="Rectangle 1">
            <a:extLst>
              <a:ext uri="{FF2B5EF4-FFF2-40B4-BE49-F238E27FC236}">
                <a16:creationId xmlns:a16="http://schemas.microsoft.com/office/drawing/2014/main" id="{2EE2DFBC-5830-AFAB-8F6E-7C16914F4B27}"/>
              </a:ext>
            </a:extLst>
          </p:cNvPr>
          <p:cNvSpPr/>
          <p:nvPr/>
        </p:nvSpPr>
        <p:spPr>
          <a:xfrm>
            <a:off x="1141820" y="874818"/>
            <a:ext cx="9372600" cy="3154710"/>
          </a:xfrm>
          <a:prstGeom prst="rect">
            <a:avLst/>
          </a:prstGeom>
          <a:noFill/>
        </p:spPr>
        <p:txBody>
          <a:bodyPr wrap="square" lIns="91440" tIns="45720" rIns="91440" bIns="45720">
            <a:spAutoFit/>
          </a:bodyPr>
          <a:lstStyle/>
          <a:p>
            <a:pPr algn="ctr"/>
            <a:r>
              <a:rPr lang="en-US" sz="19900" b="1" cap="none" spc="0" dirty="0">
                <a:ln w="12700" cmpd="sng">
                  <a:noFill/>
                  <a:prstDash val="solid"/>
                </a:ln>
                <a:gradFill flip="none" rotWithShape="1">
                  <a:gsLst>
                    <a:gs pos="0">
                      <a:schemeClr val="accent4"/>
                    </a:gs>
                    <a:gs pos="4000">
                      <a:schemeClr val="accent4">
                        <a:lumMod val="60000"/>
                        <a:lumOff val="40000"/>
                      </a:schemeClr>
                    </a:gs>
                    <a:gs pos="87000">
                      <a:schemeClr val="accent4">
                        <a:lumMod val="20000"/>
                        <a:lumOff val="80000"/>
                      </a:schemeClr>
                    </a:gs>
                  </a:gsLst>
                  <a:path path="circle">
                    <a:fillToRect r="100000" b="100000"/>
                  </a:path>
                  <a:tileRect l="-100000" t="-100000"/>
                </a:gradFill>
                <a:effectLst/>
                <a:latin typeface="Braniella" panose="02000500000000000000" pitchFamily="2" charset="0"/>
              </a:rPr>
              <a:t>Dios es</a:t>
            </a:r>
          </a:p>
        </p:txBody>
      </p:sp>
    </p:spTree>
    <p:extLst>
      <p:ext uri="{BB962C8B-B14F-4D97-AF65-F5344CB8AC3E}">
        <p14:creationId xmlns:p14="http://schemas.microsoft.com/office/powerpoint/2010/main" val="4035962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rmAutofit/>
          </a:bodyPr>
          <a:lstStyle/>
          <a:p>
            <a:r>
              <a:rPr lang="es-MX" dirty="0"/>
              <a:t>9 Más engañoso que todo es el corazón, Y sin remedio; ¿Quién lo comprenderá? </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Jeremías 17:9–10</a:t>
            </a:r>
          </a:p>
        </p:txBody>
      </p:sp>
    </p:spTree>
    <p:extLst>
      <p:ext uri="{BB962C8B-B14F-4D97-AF65-F5344CB8AC3E}">
        <p14:creationId xmlns:p14="http://schemas.microsoft.com/office/powerpoint/2010/main" val="1449153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rmAutofit fontScale="90000"/>
          </a:bodyPr>
          <a:lstStyle/>
          <a:p>
            <a:r>
              <a:rPr lang="es-MX" dirty="0"/>
              <a:t>10 »Yo, el Señor, escudriño el corazón, Pruebo los pensamientos, Para dar a cada uno según sus caminos, Según el fruto de sus obras. ‌</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Jeremías 17:9–10</a:t>
            </a:r>
          </a:p>
        </p:txBody>
      </p:sp>
    </p:spTree>
    <p:extLst>
      <p:ext uri="{BB962C8B-B14F-4D97-AF65-F5344CB8AC3E}">
        <p14:creationId xmlns:p14="http://schemas.microsoft.com/office/powerpoint/2010/main" val="2349797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FCBA14-356F-37B4-AAA1-1474F2E577C6}"/>
              </a:ext>
            </a:extLst>
          </p:cNvPr>
          <p:cNvSpPr>
            <a:spLocks noGrp="1"/>
          </p:cNvSpPr>
          <p:nvPr>
            <p:ph type="title"/>
          </p:nvPr>
        </p:nvSpPr>
        <p:spPr/>
        <p:txBody>
          <a:bodyPr/>
          <a:lstStyle/>
          <a:p>
            <a:r>
              <a:rPr lang="es-MX" dirty="0"/>
              <a:t>Para pensar:</a:t>
            </a:r>
          </a:p>
        </p:txBody>
      </p:sp>
      <p:sp>
        <p:nvSpPr>
          <p:cNvPr id="5" name="Text Placeholder 4">
            <a:extLst>
              <a:ext uri="{FF2B5EF4-FFF2-40B4-BE49-F238E27FC236}">
                <a16:creationId xmlns:a16="http://schemas.microsoft.com/office/drawing/2014/main" id="{7D6C69A6-595C-0FDE-9B10-2A6E3108952F}"/>
              </a:ext>
            </a:extLst>
          </p:cNvPr>
          <p:cNvSpPr>
            <a:spLocks noGrp="1"/>
          </p:cNvSpPr>
          <p:nvPr>
            <p:ph type="body" sz="quarter" idx="10"/>
          </p:nvPr>
        </p:nvSpPr>
        <p:spPr>
          <a:xfrm>
            <a:off x="1676400" y="1451295"/>
            <a:ext cx="9677400" cy="5041580"/>
          </a:xfrm>
        </p:spPr>
        <p:txBody>
          <a:bodyPr>
            <a:normAutofit fontScale="85000" lnSpcReduction="20000"/>
          </a:bodyPr>
          <a:lstStyle/>
          <a:p>
            <a:r>
              <a:rPr lang="es-MX" dirty="0"/>
              <a:t>¿Cuál es tu primera reacción a lo que dice este pasaje?</a:t>
            </a:r>
          </a:p>
          <a:p>
            <a:r>
              <a:rPr lang="es-MX" dirty="0"/>
              <a:t>Para ti, ¿qué es lo que destaca?</a:t>
            </a:r>
          </a:p>
          <a:p>
            <a:r>
              <a:rPr lang="es-MX" dirty="0"/>
              <a:t>¿Qué es lo que dice acerca de Dios ?</a:t>
            </a:r>
          </a:p>
          <a:p>
            <a:r>
              <a:rPr lang="es-MX" dirty="0"/>
              <a:t>¿Qué es lo que dice acerca de nosotros?</a:t>
            </a:r>
          </a:p>
        </p:txBody>
      </p:sp>
    </p:spTree>
    <p:extLst>
      <p:ext uri="{BB962C8B-B14F-4D97-AF65-F5344CB8AC3E}">
        <p14:creationId xmlns:p14="http://schemas.microsoft.com/office/powerpoint/2010/main" val="3937387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4CD5-A5E1-A5C2-A854-34A595115747}"/>
              </a:ext>
            </a:extLst>
          </p:cNvPr>
          <p:cNvSpPr>
            <a:spLocks noGrp="1"/>
          </p:cNvSpPr>
          <p:nvPr>
            <p:ph type="title"/>
          </p:nvPr>
        </p:nvSpPr>
        <p:spPr/>
        <p:txBody>
          <a:bodyPr/>
          <a:lstStyle/>
          <a:p>
            <a:r>
              <a:rPr lang="es-MX" dirty="0"/>
              <a:t>Idea central:</a:t>
            </a:r>
          </a:p>
        </p:txBody>
      </p:sp>
      <p:sp>
        <p:nvSpPr>
          <p:cNvPr id="3" name="Text Placeholder 2">
            <a:extLst>
              <a:ext uri="{FF2B5EF4-FFF2-40B4-BE49-F238E27FC236}">
                <a16:creationId xmlns:a16="http://schemas.microsoft.com/office/drawing/2014/main" id="{216810DE-2627-B942-491A-6CF10CB39990}"/>
              </a:ext>
            </a:extLst>
          </p:cNvPr>
          <p:cNvSpPr>
            <a:spLocks noGrp="1"/>
          </p:cNvSpPr>
          <p:nvPr>
            <p:ph type="body" sz="quarter" idx="10"/>
          </p:nvPr>
        </p:nvSpPr>
        <p:spPr/>
        <p:txBody>
          <a:bodyPr>
            <a:normAutofit fontScale="62500" lnSpcReduction="20000"/>
          </a:bodyPr>
          <a:lstStyle/>
          <a:p>
            <a:pPr marL="0" indent="0">
              <a:lnSpc>
                <a:spcPct val="145000"/>
              </a:lnSpc>
              <a:buNone/>
            </a:pPr>
            <a:r>
              <a:rPr lang="es-MX" dirty="0"/>
              <a:t>Si el Evangelio “lleva fruto y crece” constantemente (Colosenses 1:6), entonces todo tiene que ver con el Evangelio – Dios, la humanidad, la salvación, las relaciones interpersonales, las compras, el ocio, el trabajo, la personalidad… ¡todo! </a:t>
            </a:r>
          </a:p>
          <a:p>
            <a:pPr marL="0" indent="0">
              <a:lnSpc>
                <a:spcPct val="145000"/>
              </a:lnSpc>
              <a:buNone/>
            </a:pPr>
            <a:r>
              <a:rPr lang="es-MX" dirty="0"/>
              <a:t>El objetivo de esta lección es establecer el marco de referencia para hablar sobre el Evangelio. </a:t>
            </a:r>
          </a:p>
        </p:txBody>
      </p:sp>
    </p:spTree>
    <p:extLst>
      <p:ext uri="{BB962C8B-B14F-4D97-AF65-F5344CB8AC3E}">
        <p14:creationId xmlns:p14="http://schemas.microsoft.com/office/powerpoint/2010/main" val="3749595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ross">
            <a:extLst>
              <a:ext uri="{FF2B5EF4-FFF2-40B4-BE49-F238E27FC236}">
                <a16:creationId xmlns:a16="http://schemas.microsoft.com/office/drawing/2014/main" id="{17306D05-5D62-4533-2DEC-E1CE16A2D9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61429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cross diagram">
            <a:extLst>
              <a:ext uri="{FF2B5EF4-FFF2-40B4-BE49-F238E27FC236}">
                <a16:creationId xmlns:a16="http://schemas.microsoft.com/office/drawing/2014/main" id="{7BD6526D-BEA4-6478-9255-34510D3AD2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24329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FCBA14-356F-37B4-AAA1-1474F2E577C6}"/>
              </a:ext>
            </a:extLst>
          </p:cNvPr>
          <p:cNvSpPr>
            <a:spLocks noGrp="1"/>
          </p:cNvSpPr>
          <p:nvPr>
            <p:ph type="title"/>
          </p:nvPr>
        </p:nvSpPr>
        <p:spPr/>
        <p:txBody>
          <a:bodyPr/>
          <a:lstStyle/>
          <a:p>
            <a:r>
              <a:rPr lang="es-MX" dirty="0"/>
              <a:t>¿Cuáles son las implicaciones de ver el Evangelio únicamente como la “entrada” a la vida cristiana?</a:t>
            </a:r>
          </a:p>
        </p:txBody>
      </p:sp>
    </p:spTree>
    <p:extLst>
      <p:ext uri="{BB962C8B-B14F-4D97-AF65-F5344CB8AC3E}">
        <p14:creationId xmlns:p14="http://schemas.microsoft.com/office/powerpoint/2010/main" val="850522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Autofit/>
          </a:bodyPr>
          <a:lstStyle/>
          <a:p>
            <a:r>
              <a:rPr lang="es-MX" sz="4800" dirty="0"/>
              <a:t> Porque no me avergüenzo del evangelio, pues es el poder de Dios para la salvación de todo el que cree, del judío primeramente y también del griego. </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Romanos 1:16–17</a:t>
            </a:r>
          </a:p>
        </p:txBody>
      </p:sp>
    </p:spTree>
    <p:extLst>
      <p:ext uri="{BB962C8B-B14F-4D97-AF65-F5344CB8AC3E}">
        <p14:creationId xmlns:p14="http://schemas.microsoft.com/office/powerpoint/2010/main" val="583086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rmAutofit/>
          </a:bodyPr>
          <a:lstStyle/>
          <a:p>
            <a:r>
              <a:rPr lang="es-MX" dirty="0"/>
              <a:t>17 Porque en el evangelio la justicia de Dios se revela por fe y para fe, como está escrito: Mas el justo por la fe vivirá.</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Romanos 1:16–17</a:t>
            </a:r>
          </a:p>
        </p:txBody>
      </p:sp>
    </p:spTree>
    <p:extLst>
      <p:ext uri="{BB962C8B-B14F-4D97-AF65-F5344CB8AC3E}">
        <p14:creationId xmlns:p14="http://schemas.microsoft.com/office/powerpoint/2010/main" val="3615509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FCBA14-356F-37B4-AAA1-1474F2E577C6}"/>
              </a:ext>
            </a:extLst>
          </p:cNvPr>
          <p:cNvSpPr>
            <a:spLocks noGrp="1"/>
          </p:cNvSpPr>
          <p:nvPr>
            <p:ph type="title"/>
          </p:nvPr>
        </p:nvSpPr>
        <p:spPr/>
        <p:txBody>
          <a:bodyPr/>
          <a:lstStyle/>
          <a:p>
            <a:r>
              <a:rPr lang="es-MX" dirty="0"/>
              <a:t>¿Cuáles son las implicaciones de ver el Evangelio únicamente como la “entrada” a la vida cristiana?</a:t>
            </a:r>
          </a:p>
        </p:txBody>
      </p:sp>
    </p:spTree>
    <p:extLst>
      <p:ext uri="{BB962C8B-B14F-4D97-AF65-F5344CB8AC3E}">
        <p14:creationId xmlns:p14="http://schemas.microsoft.com/office/powerpoint/2010/main" val="1908430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A3280E-3AE5-14FD-7C0E-661A4449498A}"/>
              </a:ext>
            </a:extLst>
          </p:cNvPr>
          <p:cNvSpPr>
            <a:spLocks noGrp="1"/>
          </p:cNvSpPr>
          <p:nvPr>
            <p:ph type="title"/>
          </p:nvPr>
        </p:nvSpPr>
        <p:spPr>
          <a:xfrm>
            <a:off x="1676400" y="1660525"/>
            <a:ext cx="9677399" cy="800945"/>
          </a:xfrm>
        </p:spPr>
        <p:txBody>
          <a:bodyPr/>
          <a:lstStyle/>
          <a:p>
            <a:r>
              <a:rPr lang="es-MX" dirty="0"/>
              <a:t>SEIS MANERAS DE MINIMIZAR</a:t>
            </a:r>
          </a:p>
        </p:txBody>
      </p:sp>
      <p:sp>
        <p:nvSpPr>
          <p:cNvPr id="5" name="Text Placeholder 4">
            <a:extLst>
              <a:ext uri="{FF2B5EF4-FFF2-40B4-BE49-F238E27FC236}">
                <a16:creationId xmlns:a16="http://schemas.microsoft.com/office/drawing/2014/main" id="{E4FB1A26-A940-6A83-CF8E-30C63A99CF92}"/>
              </a:ext>
            </a:extLst>
          </p:cNvPr>
          <p:cNvSpPr>
            <a:spLocks noGrp="1"/>
          </p:cNvSpPr>
          <p:nvPr>
            <p:ph type="body" sz="quarter" idx="10"/>
          </p:nvPr>
        </p:nvSpPr>
        <p:spPr>
          <a:xfrm>
            <a:off x="1676400" y="2184400"/>
            <a:ext cx="9677400" cy="3726808"/>
          </a:xfrm>
        </p:spPr>
        <p:txBody>
          <a:bodyPr>
            <a:normAutofit/>
          </a:bodyPr>
          <a:lstStyle/>
          <a:p>
            <a:pPr marL="0" indent="0">
              <a:buNone/>
            </a:pPr>
            <a:r>
              <a:rPr lang="es-MX" sz="18000" dirty="0">
                <a:latin typeface="Oswald" pitchFamily="2" charset="0"/>
              </a:rPr>
              <a:t>EL PECADO</a:t>
            </a:r>
          </a:p>
        </p:txBody>
      </p:sp>
    </p:spTree>
    <p:extLst>
      <p:ext uri="{BB962C8B-B14F-4D97-AF65-F5344CB8AC3E}">
        <p14:creationId xmlns:p14="http://schemas.microsoft.com/office/powerpoint/2010/main" val="9230549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FCBA14-356F-37B4-AAA1-1474F2E577C6}"/>
              </a:ext>
            </a:extLst>
          </p:cNvPr>
          <p:cNvSpPr>
            <a:spLocks noGrp="1"/>
          </p:cNvSpPr>
          <p:nvPr>
            <p:ph type="title"/>
          </p:nvPr>
        </p:nvSpPr>
        <p:spPr/>
        <p:txBody>
          <a:bodyPr/>
          <a:lstStyle/>
          <a:p>
            <a:r>
              <a:rPr lang="es-MX" dirty="0"/>
              <a:t>Para repasar:</a:t>
            </a:r>
          </a:p>
        </p:txBody>
      </p:sp>
      <p:sp>
        <p:nvSpPr>
          <p:cNvPr id="5" name="Text Placeholder 4">
            <a:extLst>
              <a:ext uri="{FF2B5EF4-FFF2-40B4-BE49-F238E27FC236}">
                <a16:creationId xmlns:a16="http://schemas.microsoft.com/office/drawing/2014/main" id="{7D6C69A6-595C-0FDE-9B10-2A6E3108952F}"/>
              </a:ext>
            </a:extLst>
          </p:cNvPr>
          <p:cNvSpPr>
            <a:spLocks noGrp="1"/>
          </p:cNvSpPr>
          <p:nvPr>
            <p:ph type="body" sz="quarter" idx="10"/>
          </p:nvPr>
        </p:nvSpPr>
        <p:spPr>
          <a:xfrm>
            <a:off x="1676400" y="1451295"/>
            <a:ext cx="9677400" cy="5041580"/>
          </a:xfrm>
        </p:spPr>
        <p:txBody>
          <a:bodyPr>
            <a:normAutofit fontScale="92500" lnSpcReduction="10000"/>
          </a:bodyPr>
          <a:lstStyle/>
          <a:p>
            <a:r>
              <a:rPr lang="es-MX" dirty="0"/>
              <a:t>¿Cuáles son las dos cosas que tienen que seguir creciendo mientras vamos madurando en la fe?</a:t>
            </a:r>
          </a:p>
          <a:p>
            <a:r>
              <a:rPr lang="es-MX" dirty="0"/>
              <a:t>¿Cuáles son las dos maneras en las que “reducimos la Cruz”?</a:t>
            </a:r>
          </a:p>
        </p:txBody>
      </p:sp>
    </p:spTree>
    <p:extLst>
      <p:ext uri="{BB962C8B-B14F-4D97-AF65-F5344CB8AC3E}">
        <p14:creationId xmlns:p14="http://schemas.microsoft.com/office/powerpoint/2010/main" val="3116785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FCBA14-356F-37B4-AAA1-1474F2E577C6}"/>
              </a:ext>
            </a:extLst>
          </p:cNvPr>
          <p:cNvSpPr>
            <a:spLocks noGrp="1"/>
          </p:cNvSpPr>
          <p:nvPr>
            <p:ph type="title"/>
          </p:nvPr>
        </p:nvSpPr>
        <p:spPr/>
        <p:txBody>
          <a:bodyPr/>
          <a:lstStyle/>
          <a:p>
            <a:r>
              <a:rPr lang="es-MX" dirty="0"/>
              <a:t>Para repasar:</a:t>
            </a:r>
          </a:p>
        </p:txBody>
      </p:sp>
      <p:sp>
        <p:nvSpPr>
          <p:cNvPr id="5" name="Text Placeholder 4">
            <a:extLst>
              <a:ext uri="{FF2B5EF4-FFF2-40B4-BE49-F238E27FC236}">
                <a16:creationId xmlns:a16="http://schemas.microsoft.com/office/drawing/2014/main" id="{7D6C69A6-595C-0FDE-9B10-2A6E3108952F}"/>
              </a:ext>
            </a:extLst>
          </p:cNvPr>
          <p:cNvSpPr>
            <a:spLocks noGrp="1"/>
          </p:cNvSpPr>
          <p:nvPr>
            <p:ph type="body" sz="quarter" idx="10"/>
          </p:nvPr>
        </p:nvSpPr>
        <p:spPr>
          <a:xfrm>
            <a:off x="1676400" y="1451295"/>
            <a:ext cx="9677400" cy="5041580"/>
          </a:xfrm>
        </p:spPr>
        <p:txBody>
          <a:bodyPr>
            <a:normAutofit fontScale="92500"/>
          </a:bodyPr>
          <a:lstStyle/>
          <a:p>
            <a:r>
              <a:rPr lang="es-MX" dirty="0"/>
              <a:t>¿Cómo  creció tu comprensión de la santidad de DIOS en este último año (la línea inferior del gráfico)? </a:t>
            </a:r>
          </a:p>
          <a:p>
            <a:r>
              <a:rPr lang="es-MX" dirty="0"/>
              <a:t>¿Cómo sucedió este cambio o crecimiento?</a:t>
            </a:r>
          </a:p>
        </p:txBody>
      </p:sp>
    </p:spTree>
    <p:extLst>
      <p:ext uri="{BB962C8B-B14F-4D97-AF65-F5344CB8AC3E}">
        <p14:creationId xmlns:p14="http://schemas.microsoft.com/office/powerpoint/2010/main" val="1590301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3B977-1814-286A-EA8F-AF813A777DCD}"/>
              </a:ext>
            </a:extLst>
          </p:cNvPr>
          <p:cNvSpPr>
            <a:spLocks noGrp="1"/>
          </p:cNvSpPr>
          <p:nvPr>
            <p:ph type="title"/>
          </p:nvPr>
        </p:nvSpPr>
        <p:spPr/>
        <p:txBody>
          <a:bodyPr/>
          <a:lstStyle/>
          <a:p>
            <a:r>
              <a:rPr lang="es-MX" dirty="0"/>
              <a:t>PONERSE A LA DEFENSIVA</a:t>
            </a:r>
          </a:p>
        </p:txBody>
      </p:sp>
      <p:sp>
        <p:nvSpPr>
          <p:cNvPr id="3" name="Text Placeholder 2">
            <a:extLst>
              <a:ext uri="{FF2B5EF4-FFF2-40B4-BE49-F238E27FC236}">
                <a16:creationId xmlns:a16="http://schemas.microsoft.com/office/drawing/2014/main" id="{248A8B20-A89D-60E2-DDB8-5D13DBBC63D9}"/>
              </a:ext>
            </a:extLst>
          </p:cNvPr>
          <p:cNvSpPr>
            <a:spLocks noGrp="1"/>
          </p:cNvSpPr>
          <p:nvPr>
            <p:ph type="body" sz="quarter" idx="10"/>
          </p:nvPr>
        </p:nvSpPr>
        <p:spPr/>
        <p:txBody>
          <a:bodyPr>
            <a:normAutofit fontScale="62500" lnSpcReduction="20000"/>
          </a:bodyPr>
          <a:lstStyle/>
          <a:p>
            <a:pPr marL="0" indent="0">
              <a:lnSpc>
                <a:spcPct val="155000"/>
              </a:lnSpc>
              <a:buNone/>
            </a:pPr>
            <a:r>
              <a:rPr lang="es-MX" dirty="0"/>
              <a:t>Me es difícil recibir crítica sobre mis debilidades y pecado. Cuando alguien me confronta, mi tendencia es dar explicaciones, hablar de mis éxitos, o justificar mis decisiones. Como resultado, las personas se resisten a decirme las cosas y en pocas ocasiones mantengo conversaciones sobre las cosas difíciles en mi vida.</a:t>
            </a:r>
          </a:p>
        </p:txBody>
      </p:sp>
    </p:spTree>
    <p:extLst>
      <p:ext uri="{BB962C8B-B14F-4D97-AF65-F5344CB8AC3E}">
        <p14:creationId xmlns:p14="http://schemas.microsoft.com/office/powerpoint/2010/main" val="4094359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3B977-1814-286A-EA8F-AF813A777DCD}"/>
              </a:ext>
            </a:extLst>
          </p:cNvPr>
          <p:cNvSpPr>
            <a:spLocks noGrp="1"/>
          </p:cNvSpPr>
          <p:nvPr>
            <p:ph type="title"/>
          </p:nvPr>
        </p:nvSpPr>
        <p:spPr/>
        <p:txBody>
          <a:bodyPr/>
          <a:lstStyle/>
          <a:p>
            <a:r>
              <a:rPr lang="es-MX" dirty="0"/>
              <a:t>FINGIR</a:t>
            </a:r>
          </a:p>
        </p:txBody>
      </p:sp>
      <p:sp>
        <p:nvSpPr>
          <p:cNvPr id="3" name="Text Placeholder 2">
            <a:extLst>
              <a:ext uri="{FF2B5EF4-FFF2-40B4-BE49-F238E27FC236}">
                <a16:creationId xmlns:a16="http://schemas.microsoft.com/office/drawing/2014/main" id="{248A8B20-A89D-60E2-DDB8-5D13DBBC63D9}"/>
              </a:ext>
            </a:extLst>
          </p:cNvPr>
          <p:cNvSpPr>
            <a:spLocks noGrp="1"/>
          </p:cNvSpPr>
          <p:nvPr>
            <p:ph type="body" sz="quarter" idx="10"/>
          </p:nvPr>
        </p:nvSpPr>
        <p:spPr/>
        <p:txBody>
          <a:bodyPr>
            <a:normAutofit fontScale="70000" lnSpcReduction="20000"/>
          </a:bodyPr>
          <a:lstStyle/>
          <a:p>
            <a:pPr marL="0" indent="0">
              <a:lnSpc>
                <a:spcPct val="155000"/>
              </a:lnSpc>
              <a:buNone/>
            </a:pPr>
            <a:r>
              <a:rPr lang="es-MX" dirty="0"/>
              <a:t>Me esfuerzo por mantener una apariencia e imagen respetable. Mi comportamiento, hasta cierto grado, se mantiene por lo que creo que otros piensan de mí. No me gusta reflexionar sobre mi vida. Como resultado, hay poca gente que me conoce de verdad. (Quizá ni yo mismo me conozco realmente).</a:t>
            </a:r>
          </a:p>
        </p:txBody>
      </p:sp>
    </p:spTree>
    <p:extLst>
      <p:ext uri="{BB962C8B-B14F-4D97-AF65-F5344CB8AC3E}">
        <p14:creationId xmlns:p14="http://schemas.microsoft.com/office/powerpoint/2010/main" val="4291469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3B977-1814-286A-EA8F-AF813A777DCD}"/>
              </a:ext>
            </a:extLst>
          </p:cNvPr>
          <p:cNvSpPr>
            <a:spLocks noGrp="1"/>
          </p:cNvSpPr>
          <p:nvPr>
            <p:ph type="title"/>
          </p:nvPr>
        </p:nvSpPr>
        <p:spPr/>
        <p:txBody>
          <a:bodyPr/>
          <a:lstStyle/>
          <a:p>
            <a:r>
              <a:rPr lang="es-MX" dirty="0"/>
              <a:t>ESCONDERSE</a:t>
            </a:r>
          </a:p>
        </p:txBody>
      </p:sp>
      <p:sp>
        <p:nvSpPr>
          <p:cNvPr id="3" name="Text Placeholder 2">
            <a:extLst>
              <a:ext uri="{FF2B5EF4-FFF2-40B4-BE49-F238E27FC236}">
                <a16:creationId xmlns:a16="http://schemas.microsoft.com/office/drawing/2014/main" id="{248A8B20-A89D-60E2-DDB8-5D13DBBC63D9}"/>
              </a:ext>
            </a:extLst>
          </p:cNvPr>
          <p:cNvSpPr>
            <a:spLocks noGrp="1"/>
          </p:cNvSpPr>
          <p:nvPr>
            <p:ph type="body" sz="quarter" idx="10"/>
          </p:nvPr>
        </p:nvSpPr>
        <p:spPr/>
        <p:txBody>
          <a:bodyPr>
            <a:normAutofit fontScale="70000" lnSpcReduction="20000"/>
          </a:bodyPr>
          <a:lstStyle/>
          <a:p>
            <a:pPr marL="0" indent="0">
              <a:lnSpc>
                <a:spcPct val="155000"/>
              </a:lnSpc>
              <a:buNone/>
            </a:pPr>
            <a:r>
              <a:rPr lang="es-MX" dirty="0"/>
              <a:t>Tiendo a ocultar tanto como puedo acerca de mi vida, especialmente las “cosas malas”. Esto se distingue de fingir — el que finge intenta impresionar. El que se esconde lo hace por vergüenza. Yo no creo que la gente quiera aceptarme o amarme tal como soy.</a:t>
            </a:r>
          </a:p>
        </p:txBody>
      </p:sp>
    </p:spTree>
    <p:extLst>
      <p:ext uri="{BB962C8B-B14F-4D97-AF65-F5344CB8AC3E}">
        <p14:creationId xmlns:p14="http://schemas.microsoft.com/office/powerpoint/2010/main" val="3419478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3B977-1814-286A-EA8F-AF813A777DCD}"/>
              </a:ext>
            </a:extLst>
          </p:cNvPr>
          <p:cNvSpPr>
            <a:spLocks noGrp="1"/>
          </p:cNvSpPr>
          <p:nvPr>
            <p:ph type="title"/>
          </p:nvPr>
        </p:nvSpPr>
        <p:spPr/>
        <p:txBody>
          <a:bodyPr/>
          <a:lstStyle/>
          <a:p>
            <a:r>
              <a:rPr lang="es-MX" dirty="0"/>
              <a:t>EXAGERAR</a:t>
            </a:r>
          </a:p>
        </p:txBody>
      </p:sp>
      <p:sp>
        <p:nvSpPr>
          <p:cNvPr id="3" name="Text Placeholder 2">
            <a:extLst>
              <a:ext uri="{FF2B5EF4-FFF2-40B4-BE49-F238E27FC236}">
                <a16:creationId xmlns:a16="http://schemas.microsoft.com/office/drawing/2014/main" id="{248A8B20-A89D-60E2-DDB8-5D13DBBC63D9}"/>
              </a:ext>
            </a:extLst>
          </p:cNvPr>
          <p:cNvSpPr>
            <a:spLocks noGrp="1"/>
          </p:cNvSpPr>
          <p:nvPr>
            <p:ph type="body" sz="quarter" idx="10"/>
          </p:nvPr>
        </p:nvSpPr>
        <p:spPr/>
        <p:txBody>
          <a:bodyPr>
            <a:normAutofit fontScale="62500" lnSpcReduction="20000"/>
          </a:bodyPr>
          <a:lstStyle/>
          <a:p>
            <a:pPr marL="0" indent="0">
              <a:lnSpc>
                <a:spcPct val="155000"/>
              </a:lnSpc>
              <a:buNone/>
            </a:pPr>
            <a:r>
              <a:rPr lang="es-MX" dirty="0"/>
              <a:t>Tiendo a pensar (y hablar) mucho mejor acerca de mí mismo de lo que debo. Hago que las cosas (buenas y malas) se vean mucho más grandes de lo que son (normalmente para llamar la atención). Como resultado, las cosas que comparto con los demás reciben más atención de lo que merecen y de alguna forma me hacen sentir más estresado y afanoso.</a:t>
            </a:r>
          </a:p>
        </p:txBody>
      </p:sp>
    </p:spTree>
    <p:extLst>
      <p:ext uri="{BB962C8B-B14F-4D97-AF65-F5344CB8AC3E}">
        <p14:creationId xmlns:p14="http://schemas.microsoft.com/office/powerpoint/2010/main" val="182092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3B977-1814-286A-EA8F-AF813A777DCD}"/>
              </a:ext>
            </a:extLst>
          </p:cNvPr>
          <p:cNvSpPr>
            <a:spLocks noGrp="1"/>
          </p:cNvSpPr>
          <p:nvPr>
            <p:ph type="title"/>
          </p:nvPr>
        </p:nvSpPr>
        <p:spPr/>
        <p:txBody>
          <a:bodyPr>
            <a:normAutofit fontScale="90000"/>
          </a:bodyPr>
          <a:lstStyle/>
          <a:p>
            <a:r>
              <a:rPr lang="es-MX" dirty="0"/>
              <a:t>ECHARLES LA CULPA A LOS DEMÁS</a:t>
            </a:r>
          </a:p>
        </p:txBody>
      </p:sp>
      <p:sp>
        <p:nvSpPr>
          <p:cNvPr id="3" name="Text Placeholder 2">
            <a:extLst>
              <a:ext uri="{FF2B5EF4-FFF2-40B4-BE49-F238E27FC236}">
                <a16:creationId xmlns:a16="http://schemas.microsoft.com/office/drawing/2014/main" id="{248A8B20-A89D-60E2-DDB8-5D13DBBC63D9}"/>
              </a:ext>
            </a:extLst>
          </p:cNvPr>
          <p:cNvSpPr>
            <a:spLocks noGrp="1"/>
          </p:cNvSpPr>
          <p:nvPr>
            <p:ph type="body" sz="quarter" idx="10"/>
          </p:nvPr>
        </p:nvSpPr>
        <p:spPr/>
        <p:txBody>
          <a:bodyPr>
            <a:normAutofit fontScale="70000" lnSpcReduction="20000"/>
          </a:bodyPr>
          <a:lstStyle/>
          <a:p>
            <a:pPr marL="0" indent="0">
              <a:lnSpc>
                <a:spcPct val="155000"/>
              </a:lnSpc>
              <a:buNone/>
            </a:pPr>
            <a:r>
              <a:rPr lang="es-MX" dirty="0"/>
              <a:t>Soy rápido para culpar a otros de pecado o por las circunstancias. Me cuesta asumir mi parte de la culpa por el pecado o el conflicto. Existe un elemento de orgullo que da por sentado que la culpa no es mía y/o un elemento de miedo al rechazo, si es que la culpa es mía.</a:t>
            </a:r>
          </a:p>
        </p:txBody>
      </p:sp>
    </p:spTree>
    <p:extLst>
      <p:ext uri="{BB962C8B-B14F-4D97-AF65-F5344CB8AC3E}">
        <p14:creationId xmlns:p14="http://schemas.microsoft.com/office/powerpoint/2010/main" val="3133922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3B977-1814-286A-EA8F-AF813A777DCD}"/>
              </a:ext>
            </a:extLst>
          </p:cNvPr>
          <p:cNvSpPr>
            <a:spLocks noGrp="1"/>
          </p:cNvSpPr>
          <p:nvPr>
            <p:ph type="title"/>
          </p:nvPr>
        </p:nvSpPr>
        <p:spPr/>
        <p:txBody>
          <a:bodyPr/>
          <a:lstStyle/>
          <a:p>
            <a:r>
              <a:rPr lang="es-MX" dirty="0"/>
              <a:t>RESTAR IMPORTANCIA</a:t>
            </a:r>
          </a:p>
        </p:txBody>
      </p:sp>
      <p:sp>
        <p:nvSpPr>
          <p:cNvPr id="3" name="Text Placeholder 2">
            <a:extLst>
              <a:ext uri="{FF2B5EF4-FFF2-40B4-BE49-F238E27FC236}">
                <a16:creationId xmlns:a16="http://schemas.microsoft.com/office/drawing/2014/main" id="{248A8B20-A89D-60E2-DDB8-5D13DBBC63D9}"/>
              </a:ext>
            </a:extLst>
          </p:cNvPr>
          <p:cNvSpPr>
            <a:spLocks noGrp="1"/>
          </p:cNvSpPr>
          <p:nvPr>
            <p:ph type="body" sz="quarter" idx="10"/>
          </p:nvPr>
        </p:nvSpPr>
        <p:spPr/>
        <p:txBody>
          <a:bodyPr>
            <a:normAutofit fontScale="70000" lnSpcReduction="20000"/>
          </a:bodyPr>
          <a:lstStyle/>
          <a:p>
            <a:pPr marL="0" indent="0">
              <a:lnSpc>
                <a:spcPct val="155000"/>
              </a:lnSpc>
              <a:buNone/>
            </a:pPr>
            <a:r>
              <a:rPr lang="es-MX" dirty="0"/>
              <a:t>Tiendo a dar poca importancia al pecado y a las circunstancias de mi vida, como si éstas fueran “normales” o “no estuvieran tan mal”. Como resultado, las cosas no reciben la atención que deberían. Los problemas suelen acumularse hasta el punto de ser abrumadores.</a:t>
            </a:r>
          </a:p>
        </p:txBody>
      </p:sp>
    </p:spTree>
    <p:extLst>
      <p:ext uri="{BB962C8B-B14F-4D97-AF65-F5344CB8AC3E}">
        <p14:creationId xmlns:p14="http://schemas.microsoft.com/office/powerpoint/2010/main" val="2209346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FCBA14-356F-37B4-AAA1-1474F2E577C6}"/>
              </a:ext>
            </a:extLst>
          </p:cNvPr>
          <p:cNvSpPr>
            <a:spLocks noGrp="1"/>
          </p:cNvSpPr>
          <p:nvPr>
            <p:ph type="title"/>
          </p:nvPr>
        </p:nvSpPr>
        <p:spPr/>
        <p:txBody>
          <a:bodyPr/>
          <a:lstStyle/>
          <a:p>
            <a:r>
              <a:rPr lang="es-MX" dirty="0"/>
              <a:t>EJERCICIO</a:t>
            </a:r>
          </a:p>
        </p:txBody>
      </p:sp>
      <p:sp>
        <p:nvSpPr>
          <p:cNvPr id="5" name="Text Placeholder 4">
            <a:extLst>
              <a:ext uri="{FF2B5EF4-FFF2-40B4-BE49-F238E27FC236}">
                <a16:creationId xmlns:a16="http://schemas.microsoft.com/office/drawing/2014/main" id="{7D6C69A6-595C-0FDE-9B10-2A6E3108952F}"/>
              </a:ext>
            </a:extLst>
          </p:cNvPr>
          <p:cNvSpPr>
            <a:spLocks noGrp="1"/>
          </p:cNvSpPr>
          <p:nvPr>
            <p:ph type="body" sz="quarter" idx="10"/>
          </p:nvPr>
        </p:nvSpPr>
        <p:spPr>
          <a:xfrm>
            <a:off x="1676400" y="1451295"/>
            <a:ext cx="9677400" cy="5041580"/>
          </a:xfrm>
        </p:spPr>
        <p:txBody>
          <a:bodyPr>
            <a:normAutofit fontScale="62500" lnSpcReduction="20000"/>
          </a:bodyPr>
          <a:lstStyle/>
          <a:p>
            <a:pPr marL="742950" indent="-742950">
              <a:buFont typeface="+mj-lt"/>
              <a:buAutoNum type="arabicPeriod"/>
            </a:pPr>
            <a:r>
              <a:rPr lang="es-MX" dirty="0"/>
              <a:t>¿Cuáles son algunas de las formas específicas en que juzgamos a otros?</a:t>
            </a:r>
          </a:p>
          <a:p>
            <a:pPr marL="742950" indent="-742950">
              <a:buFont typeface="+mj-lt"/>
              <a:buAutoNum type="arabicPeriod"/>
            </a:pPr>
            <a:r>
              <a:rPr lang="es-MX" dirty="0"/>
              <a:t>¿Por qué juzgamos a otros? ¿Cuáles son las razones que damos?</a:t>
            </a:r>
          </a:p>
          <a:p>
            <a:pPr marL="742950" indent="-742950">
              <a:buFont typeface="+mj-lt"/>
              <a:buAutoNum type="arabicPeriod"/>
            </a:pPr>
            <a:r>
              <a:rPr lang="es-MX" dirty="0"/>
              <a:t>¿Cómo es que estas razones reflejan una perspectiva estrecha de la santidad de Dios?</a:t>
            </a:r>
          </a:p>
          <a:p>
            <a:pPr marL="742950" indent="-742950">
              <a:buFont typeface="+mj-lt"/>
              <a:buAutoNum type="arabicPeriod"/>
            </a:pPr>
            <a:r>
              <a:rPr lang="es-MX" dirty="0"/>
              <a:t> ¿Cómo es que estas razones reflejan una perspectiva estrecha de nuestro pecado?</a:t>
            </a:r>
          </a:p>
        </p:txBody>
      </p:sp>
    </p:spTree>
    <p:extLst>
      <p:ext uri="{BB962C8B-B14F-4D97-AF65-F5344CB8AC3E}">
        <p14:creationId xmlns:p14="http://schemas.microsoft.com/office/powerpoint/2010/main" val="2612309961"/>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67D657BFBA35945B3F08057C1D72EB8" ma:contentTypeVersion="3" ma:contentTypeDescription="Create a new document." ma:contentTypeScope="" ma:versionID="d39436f4f1dad0bf48f2c695fe1202b0">
  <xsd:schema xmlns:xsd="http://www.w3.org/2001/XMLSchema" xmlns:xs="http://www.w3.org/2001/XMLSchema" xmlns:p="http://schemas.microsoft.com/office/2006/metadata/properties" xmlns:ns3="a685921f-f366-4ea7-84c8-5471bad9b71b" targetNamespace="http://schemas.microsoft.com/office/2006/metadata/properties" ma:root="true" ma:fieldsID="a7013409abdca6f35d7c8e42267422ab" ns3:_="">
    <xsd:import namespace="a685921f-f366-4ea7-84c8-5471bad9b71b"/>
    <xsd:element name="properties">
      <xsd:complexType>
        <xsd:sequence>
          <xsd:element name="documentManagement">
            <xsd:complexType>
              <xsd:all>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85921f-f366-4ea7-84c8-5471bad9b7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29AA65-96A6-4F08-84D2-837ABDEE403D}">
  <ds:schemaRefs>
    <ds:schemaRef ds:uri="http://schemas.microsoft.com/office/infopath/2007/PartnerControls"/>
    <ds:schemaRef ds:uri="http://purl.org/dc/terms/"/>
    <ds:schemaRef ds:uri="http://schemas.microsoft.com/office/2006/documentManagement/types"/>
    <ds:schemaRef ds:uri="http://www.w3.org/XML/1998/namespace"/>
    <ds:schemaRef ds:uri="http://schemas.openxmlformats.org/package/2006/metadata/core-properties"/>
    <ds:schemaRef ds:uri="http://purl.org/dc/elements/1.1/"/>
    <ds:schemaRef ds:uri="http://purl.org/dc/dcmitype/"/>
    <ds:schemaRef ds:uri="a685921f-f366-4ea7-84c8-5471bad9b71b"/>
    <ds:schemaRef ds:uri="http://schemas.microsoft.com/office/2006/metadata/properties"/>
  </ds:schemaRefs>
</ds:datastoreItem>
</file>

<file path=customXml/itemProps2.xml><?xml version="1.0" encoding="utf-8"?>
<ds:datastoreItem xmlns:ds="http://schemas.openxmlformats.org/officeDocument/2006/customXml" ds:itemID="{984265E9-2ABB-451B-BCDF-224E1F0035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685921f-f366-4ea7-84c8-5471bad9b7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B399A92-1C6B-40C6-B575-11C564D99E4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8779</TotalTime>
  <Words>962</Words>
  <Application>Microsoft Office PowerPoint</Application>
  <PresentationFormat>Widescreen</PresentationFormat>
  <Paragraphs>60</Paragraphs>
  <Slides>29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Braniella</vt:lpstr>
      <vt:lpstr>Calibri</vt:lpstr>
      <vt:lpstr>Montserrat</vt:lpstr>
      <vt:lpstr>Montserrat SemiBold</vt:lpstr>
      <vt:lpstr>Oswald</vt:lpstr>
      <vt:lpstr>Yeseva One</vt:lpstr>
      <vt:lpstr>Tema de Office</vt:lpstr>
      <vt:lpstr>PowerPoint Presentation</vt:lpstr>
      <vt:lpstr>PowerPoint Presentation</vt:lpstr>
      <vt:lpstr>6 Busquen al Señor mientras puede ser hallado, Llámenlo en tanto que está cerca. </vt:lpstr>
      <vt:lpstr>7 Abandone el impío su camino, Y el hombre malvado sus pensamientos, Y vuélvase al Señor, Que tendrá de él compasión, Al Dios nuestro, Que será amplio en perdonar. </vt:lpstr>
      <vt:lpstr>8 «Porque Mis pensamientos no son los pensamientos de ustedes, Ni sus caminos son Mis caminos», declara el Señor.</vt:lpstr>
      <vt:lpstr>9 «Porque como los cielos son más altos que la tierra, Así Mis caminos son más altos que sus caminos, Y Mis pensamientos más que sus pensamientos. ‌</vt:lpstr>
      <vt:lpstr>Para pensar:</vt:lpstr>
      <vt:lpstr>¿A quién, pues, asemejarán a Dios, O con qué semejanza lo compararán?</vt:lpstr>
      <vt:lpstr>PowerPoint Presentation</vt:lpstr>
      <vt:lpstr>9 Más engañoso que todo es el corazón, Y sin remedio; ¿Quién lo comprenderá? </vt:lpstr>
      <vt:lpstr>10 »Yo, el Señor, escudriño el corazón, Pruebo los pensamientos, Para dar a cada uno según sus caminos, Según el fruto de sus obras. ‌</vt:lpstr>
      <vt:lpstr>Para pensar:</vt:lpstr>
      <vt:lpstr>Idea central:</vt:lpstr>
      <vt:lpstr>PowerPoint Presentation</vt:lpstr>
      <vt:lpstr>PowerPoint Presentation</vt:lpstr>
      <vt:lpstr>¿Cuáles son las implicaciones de ver el Evangelio únicamente como la “entrada” a la vida cristiana?</vt:lpstr>
      <vt:lpstr> Porque no me avergüenzo del evangelio, pues es el poder de Dios para la salvación de todo el que cree, del judío primeramente y también del griego. </vt:lpstr>
      <vt:lpstr>17 Porque en el evangelio la justicia de Dios se revela por fe y para fe, como está escrito: Mas el justo por la fe vivirá.</vt:lpstr>
      <vt:lpstr>¿Cuáles son las implicaciones de ver el Evangelio únicamente como la “entrada” a la vida cristiana?</vt:lpstr>
      <vt:lpstr>SEIS MANERAS DE MINIMIZAR</vt:lpstr>
      <vt:lpstr>Para repasar:</vt:lpstr>
      <vt:lpstr>Para repasar:</vt:lpstr>
      <vt:lpstr>PONERSE A LA DEFENSIVA</vt:lpstr>
      <vt:lpstr>FINGIR</vt:lpstr>
      <vt:lpstr>ESCONDERSE</vt:lpstr>
      <vt:lpstr>EXAGERAR</vt:lpstr>
      <vt:lpstr>ECHARLES LA CULPA A LOS DEMÁS</vt:lpstr>
      <vt:lpstr>RESTAR IMPORTANCIA</vt:lpstr>
      <vt:lpstr>EJERCICIO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Enrique Villegas</dc:creator>
  <cp:lastModifiedBy>Enrique Villegas</cp:lastModifiedBy>
  <cp:revision>63</cp:revision>
  <dcterms:created xsi:type="dcterms:W3CDTF">2023-08-19T04:14:33Z</dcterms:created>
  <dcterms:modified xsi:type="dcterms:W3CDTF">2024-01-13T22:40:47Z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0x010100867D657BFBA35945B3F08057C1D72EB8</vt:lpwstr>
  </property>
</Properties>
</file>