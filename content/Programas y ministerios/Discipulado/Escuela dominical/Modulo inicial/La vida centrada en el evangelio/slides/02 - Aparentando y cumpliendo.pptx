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39"/>
  </p:notesMasterIdLst>
  <p:sldIdLst>
    <p:sldId id="256" r:id="rId5"/>
    <p:sldId id="462" r:id="rId6"/>
    <p:sldId id="493" r:id="rId7"/>
    <p:sldId id="463" r:id="rId8"/>
    <p:sldId id="489" r:id="rId9"/>
    <p:sldId id="490" r:id="rId10"/>
    <p:sldId id="491" r:id="rId11"/>
    <p:sldId id="467" r:id="rId12"/>
    <p:sldId id="492" r:id="rId13"/>
    <p:sldId id="495" r:id="rId14"/>
    <p:sldId id="496" r:id="rId15"/>
    <p:sldId id="497" r:id="rId16"/>
    <p:sldId id="498" r:id="rId17"/>
    <p:sldId id="499" r:id="rId18"/>
    <p:sldId id="500" r:id="rId19"/>
    <p:sldId id="461" r:id="rId20"/>
    <p:sldId id="501" r:id="rId21"/>
    <p:sldId id="473" r:id="rId22"/>
    <p:sldId id="502" r:id="rId23"/>
    <p:sldId id="505" r:id="rId24"/>
    <p:sldId id="504" r:id="rId25"/>
    <p:sldId id="506" r:id="rId26"/>
    <p:sldId id="507" r:id="rId27"/>
    <p:sldId id="508" r:id="rId28"/>
    <p:sldId id="509" r:id="rId29"/>
    <p:sldId id="515" r:id="rId30"/>
    <p:sldId id="510" r:id="rId31"/>
    <p:sldId id="511" r:id="rId32"/>
    <p:sldId id="513" r:id="rId33"/>
    <p:sldId id="512" r:id="rId34"/>
    <p:sldId id="514" r:id="rId35"/>
    <p:sldId id="516" r:id="rId36"/>
    <p:sldId id="503" r:id="rId37"/>
    <p:sldId id="487" r:id="rId3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ción predeterminada" id="{733316EF-5C79-45B1-8BCF-C08055D411E9}">
          <p14:sldIdLst>
            <p14:sldId id="256"/>
            <p14:sldId id="462"/>
            <p14:sldId id="493"/>
            <p14:sldId id="463"/>
            <p14:sldId id="489"/>
            <p14:sldId id="490"/>
            <p14:sldId id="491"/>
            <p14:sldId id="467"/>
            <p14:sldId id="492"/>
            <p14:sldId id="495"/>
            <p14:sldId id="496"/>
            <p14:sldId id="497"/>
            <p14:sldId id="498"/>
            <p14:sldId id="499"/>
            <p14:sldId id="500"/>
            <p14:sldId id="461"/>
            <p14:sldId id="501"/>
            <p14:sldId id="473"/>
            <p14:sldId id="502"/>
            <p14:sldId id="505"/>
            <p14:sldId id="504"/>
            <p14:sldId id="506"/>
            <p14:sldId id="507"/>
            <p14:sldId id="508"/>
            <p14:sldId id="509"/>
            <p14:sldId id="515"/>
            <p14:sldId id="510"/>
            <p14:sldId id="511"/>
            <p14:sldId id="513"/>
            <p14:sldId id="512"/>
            <p14:sldId id="514"/>
            <p14:sldId id="516"/>
            <p14:sldId id="503"/>
            <p14:sldId id="48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E69D8"/>
    <a:srgbClr val="E86B6B"/>
    <a:srgbClr val="C7D5ED"/>
    <a:srgbClr val="F5EED6"/>
    <a:srgbClr val="BF9000"/>
    <a:srgbClr val="E8CC6D"/>
    <a:srgbClr val="5A6D65"/>
    <a:srgbClr val="C8B97C"/>
    <a:srgbClr val="D5B158"/>
    <a:srgbClr val="3B47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6247" autoAdjust="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786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nrique Villegas Valerio" userId="8ada793c76dcd6b1" providerId="LiveId" clId="{71F6B8D7-61A7-4EE1-8715-BCEC8CCE14ED}"/>
    <pc:docChg chg="undo custSel modSld">
      <pc:chgData name="Enrique Villegas Valerio" userId="8ada793c76dcd6b1" providerId="LiveId" clId="{71F6B8D7-61A7-4EE1-8715-BCEC8CCE14ED}" dt="2024-01-27T14:52:43.894" v="9" actId="20577"/>
      <pc:docMkLst>
        <pc:docMk/>
      </pc:docMkLst>
      <pc:sldChg chg="modSp mod">
        <pc:chgData name="Enrique Villegas Valerio" userId="8ada793c76dcd6b1" providerId="LiveId" clId="{71F6B8D7-61A7-4EE1-8715-BCEC8CCE14ED}" dt="2024-01-27T14:52:43.894" v="9" actId="20577"/>
        <pc:sldMkLst>
          <pc:docMk/>
          <pc:sldMk cId="1209562975" sldId="462"/>
        </pc:sldMkLst>
        <pc:spChg chg="mod">
          <ac:chgData name="Enrique Villegas Valerio" userId="8ada793c76dcd6b1" providerId="LiveId" clId="{71F6B8D7-61A7-4EE1-8715-BCEC8CCE14ED}" dt="2024-01-27T14:52:43.894" v="9" actId="20577"/>
          <ac:spMkLst>
            <pc:docMk/>
            <pc:sldMk cId="1209562975" sldId="462"/>
            <ac:spMk id="2" creationId="{16BF5846-E5CE-69A1-7929-CBCDFA2F891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01FDB4-1A5D-4B9F-AF6A-52FA43DC7FCB}" type="datetimeFigureOut">
              <a:rPr lang="es-MX" smtClean="0"/>
              <a:t>27/01/2024</a:t>
            </a:fld>
            <a:endParaRPr lang="es-MX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41109B-DB30-4047-AA4B-24982097BA7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7572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bg>
      <p:bgPr>
        <a:solidFill>
          <a:srgbClr val="3B47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red and white background with a cross in the center&#10;&#10;Description automatically generated">
            <a:extLst>
              <a:ext uri="{FF2B5EF4-FFF2-40B4-BE49-F238E27FC236}">
                <a16:creationId xmlns:a16="http://schemas.microsoft.com/office/drawing/2014/main" id="{4EA7B6E1-356A-D77A-2968-F4CC291A725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6906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62925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121" y="397668"/>
            <a:ext cx="10525329" cy="5317332"/>
          </a:xfrm>
        </p:spPr>
        <p:txBody>
          <a:bodyPr anchor="ctr">
            <a:normAutofit/>
          </a:bodyPr>
          <a:lstStyle>
            <a:lvl1pPr algn="l">
              <a:lnSpc>
                <a:spcPct val="135000"/>
              </a:lnSpc>
              <a:defRPr sz="5400">
                <a:solidFill>
                  <a:schemeClr val="tx1"/>
                </a:solidFill>
                <a:latin typeface="Montserrat" panose="00000500000000000000" pitchFamily="2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121" y="6121400"/>
            <a:ext cx="7026479" cy="438150"/>
          </a:xfrm>
        </p:spPr>
        <p:txBody>
          <a:bodyPr/>
          <a:lstStyle>
            <a:lvl1pPr marL="0" indent="0">
              <a:buNone/>
              <a:defRPr sz="2400" cap="all" spc="400" baseline="0">
                <a:solidFill>
                  <a:srgbClr val="E8CC6D"/>
                </a:solidFill>
                <a:latin typeface="Yeseva One" panose="00000500000000000000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  <p:pic>
        <p:nvPicPr>
          <p:cNvPr id="8" name="Imagen 7" descr="Dibujo en blanco y negro&#10;&#10;Descripción generada automáticamente con confianza baja">
            <a:extLst>
              <a:ext uri="{FF2B5EF4-FFF2-40B4-BE49-F238E27FC236}">
                <a16:creationId xmlns:a16="http://schemas.microsoft.com/office/drawing/2014/main" id="{165B58CA-7C57-EBCB-9B5B-C0E7FC8F5B0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3901" y="6089428"/>
            <a:ext cx="1672314" cy="44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0451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62BA4C-4B4C-352F-982B-462C48914E1A}"/>
              </a:ext>
            </a:extLst>
          </p:cNvPr>
          <p:cNvSpPr/>
          <p:nvPr userDrawn="1"/>
        </p:nvSpPr>
        <p:spPr>
          <a:xfrm>
            <a:off x="1168400" y="0"/>
            <a:ext cx="110236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5228655-8A01-4C21-2519-CA4F7EEB0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365125"/>
            <a:ext cx="9677399" cy="800945"/>
          </a:xfrm>
        </p:spPr>
        <p:txBody>
          <a:bodyPr/>
          <a:lstStyle>
            <a:lvl1pPr algn="l">
              <a:defRPr baseline="0">
                <a:solidFill>
                  <a:srgbClr val="BF9000"/>
                </a:solidFill>
                <a:effectLst/>
                <a:latin typeface="Montserrat SemiBold" panose="00000700000000000000" pitchFamily="2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MX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BF85EFB-ECD7-05BB-421A-A69167FA1B7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676400" y="1451295"/>
            <a:ext cx="9677400" cy="4790113"/>
          </a:xfrm>
        </p:spPr>
        <p:txBody>
          <a:bodyPr>
            <a:normAutofit/>
          </a:bodyPr>
          <a:lstStyle>
            <a:lvl1pPr>
              <a:lnSpc>
                <a:spcPct val="125000"/>
              </a:lnSpc>
              <a:spcAft>
                <a:spcPts val="2400"/>
              </a:spcAft>
              <a:defRPr sz="4400">
                <a:solidFill>
                  <a:schemeClr val="bg1">
                    <a:lumMod val="85000"/>
                    <a:lumOff val="15000"/>
                  </a:schemeClr>
                </a:solidFill>
                <a:latin typeface="Montserrat" panose="00000500000000000000" pitchFamily="2" charset="0"/>
              </a:defRPr>
            </a:lvl1pPr>
            <a:lvl2pPr>
              <a:lnSpc>
                <a:spcPct val="125000"/>
              </a:lnSpc>
              <a:spcAft>
                <a:spcPts val="2400"/>
              </a:spcAft>
              <a:defRPr sz="4000">
                <a:solidFill>
                  <a:schemeClr val="bg1">
                    <a:lumMod val="85000"/>
                    <a:lumOff val="15000"/>
                  </a:schemeClr>
                </a:solidFill>
                <a:latin typeface="Montserrat" panose="00000500000000000000" pitchFamily="2" charset="0"/>
              </a:defRPr>
            </a:lvl2pPr>
            <a:lvl3pPr>
              <a:lnSpc>
                <a:spcPct val="125000"/>
              </a:lnSpc>
              <a:spcAft>
                <a:spcPts val="2400"/>
              </a:spcAft>
              <a:defRPr sz="3600">
                <a:solidFill>
                  <a:schemeClr val="bg1">
                    <a:lumMod val="85000"/>
                    <a:lumOff val="15000"/>
                  </a:schemeClr>
                </a:solidFill>
                <a:latin typeface="Montserrat" panose="00000500000000000000" pitchFamily="2" charset="0"/>
              </a:defRPr>
            </a:lvl3pPr>
            <a:lvl4pPr>
              <a:lnSpc>
                <a:spcPct val="125000"/>
              </a:lnSpc>
              <a:spcAft>
                <a:spcPts val="2400"/>
              </a:spcAft>
              <a:defRPr sz="3200">
                <a:solidFill>
                  <a:schemeClr val="bg1">
                    <a:lumMod val="85000"/>
                    <a:lumOff val="15000"/>
                  </a:schemeClr>
                </a:solidFill>
                <a:latin typeface="Montserrat" panose="00000500000000000000" pitchFamily="2" charset="0"/>
              </a:defRPr>
            </a:lvl4pPr>
            <a:lvl5pPr>
              <a:lnSpc>
                <a:spcPct val="125000"/>
              </a:lnSpc>
              <a:spcAft>
                <a:spcPts val="2400"/>
              </a:spcAft>
              <a:defRPr sz="3200">
                <a:solidFill>
                  <a:schemeClr val="bg1">
                    <a:lumMod val="85000"/>
                    <a:lumOff val="15000"/>
                  </a:schemeClr>
                </a:solidFill>
                <a:latin typeface="Montserrat" panose="00000500000000000000" pitchFamily="2" charset="0"/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1041341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228655-8A01-4C21-2519-CA4F7EEB0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006" y="365125"/>
            <a:ext cx="10900793" cy="800945"/>
          </a:xfrm>
        </p:spPr>
        <p:txBody>
          <a:bodyPr/>
          <a:lstStyle>
            <a:lvl1pPr algn="r">
              <a:defRPr baseline="0">
                <a:solidFill>
                  <a:srgbClr val="E8CC6D"/>
                </a:solidFill>
                <a:latin typeface="Montserrat SemiBold" panose="00000700000000000000" pitchFamily="2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MX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BF85EFB-ECD7-05BB-421A-A69167FA1B7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3006" y="1451295"/>
            <a:ext cx="10900794" cy="4790113"/>
          </a:xfrm>
        </p:spPr>
        <p:txBody>
          <a:bodyPr>
            <a:normAutofit/>
          </a:bodyPr>
          <a:lstStyle>
            <a:lvl1pPr>
              <a:lnSpc>
                <a:spcPct val="125000"/>
              </a:lnSpc>
              <a:spcAft>
                <a:spcPts val="2400"/>
              </a:spcAft>
              <a:defRPr sz="4400">
                <a:solidFill>
                  <a:schemeClr val="tx1"/>
                </a:solidFill>
                <a:latin typeface="Montserrat" panose="00000500000000000000" pitchFamily="2" charset="0"/>
              </a:defRPr>
            </a:lvl1pPr>
            <a:lvl2pPr>
              <a:lnSpc>
                <a:spcPct val="125000"/>
              </a:lnSpc>
              <a:spcAft>
                <a:spcPts val="2400"/>
              </a:spcAft>
              <a:defRPr sz="4000">
                <a:solidFill>
                  <a:schemeClr val="tx1"/>
                </a:solidFill>
                <a:latin typeface="Montserrat" panose="00000500000000000000" pitchFamily="2" charset="0"/>
              </a:defRPr>
            </a:lvl2pPr>
            <a:lvl3pPr>
              <a:lnSpc>
                <a:spcPct val="125000"/>
              </a:lnSpc>
              <a:spcAft>
                <a:spcPts val="2400"/>
              </a:spcAft>
              <a:defRPr sz="3600">
                <a:solidFill>
                  <a:schemeClr val="tx1"/>
                </a:solidFill>
                <a:latin typeface="Montserrat" panose="00000500000000000000" pitchFamily="2" charset="0"/>
              </a:defRPr>
            </a:lvl3pPr>
            <a:lvl4pPr>
              <a:lnSpc>
                <a:spcPct val="125000"/>
              </a:lnSpc>
              <a:spcAft>
                <a:spcPts val="2400"/>
              </a:spcAft>
              <a:defRPr sz="3200">
                <a:solidFill>
                  <a:schemeClr val="tx1"/>
                </a:solidFill>
                <a:latin typeface="Montserrat" panose="00000500000000000000" pitchFamily="2" charset="0"/>
              </a:defRPr>
            </a:lvl4pPr>
            <a:lvl5pPr>
              <a:lnSpc>
                <a:spcPct val="125000"/>
              </a:lnSpc>
              <a:spcAft>
                <a:spcPts val="2400"/>
              </a:spcAft>
              <a:defRPr sz="3200">
                <a:solidFill>
                  <a:schemeClr val="tx1"/>
                </a:solidFill>
                <a:latin typeface="Montserrat" panose="00000500000000000000" pitchFamily="2" charset="0"/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6056746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3674" y="879871"/>
            <a:ext cx="10674446" cy="5098257"/>
          </a:xfrm>
        </p:spPr>
        <p:txBody>
          <a:bodyPr anchor="ctr">
            <a:normAutofit/>
          </a:bodyPr>
          <a:lstStyle>
            <a:lvl1pPr algn="ctr">
              <a:lnSpc>
                <a:spcPct val="135000"/>
              </a:lnSpc>
              <a:defRPr sz="4000">
                <a:solidFill>
                  <a:schemeClr val="tx1"/>
                </a:solidFill>
                <a:latin typeface="Montserrat" panose="00000500000000000000" pitchFamily="2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94448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95D1984-18EC-3271-9E13-347D49F3D50B}"/>
              </a:ext>
            </a:extLst>
          </p:cNvPr>
          <p:cNvSpPr/>
          <p:nvPr userDrawn="1"/>
        </p:nvSpPr>
        <p:spPr>
          <a:xfrm>
            <a:off x="1" y="1074057"/>
            <a:ext cx="12192000" cy="470988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320801"/>
            <a:ext cx="10313719" cy="4216398"/>
          </a:xfrm>
        </p:spPr>
        <p:txBody>
          <a:bodyPr anchor="ctr">
            <a:normAutofit/>
          </a:bodyPr>
          <a:lstStyle>
            <a:lvl1pPr algn="ctr">
              <a:lnSpc>
                <a:spcPct val="135000"/>
              </a:lnSpc>
              <a:defRPr sz="4000">
                <a:solidFill>
                  <a:schemeClr val="bg1">
                    <a:lumMod val="85000"/>
                    <a:lumOff val="1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76521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B47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red and black background&#10;&#10;Description automatically generated">
            <a:extLst>
              <a:ext uri="{FF2B5EF4-FFF2-40B4-BE49-F238E27FC236}">
                <a16:creationId xmlns:a16="http://schemas.microsoft.com/office/drawing/2014/main" id="{CEFD2B2F-5FA5-6731-E441-E4386F1D6794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3DB29A-9567-452F-B6E9-31720CFDB69A}" type="datetimeFigureOut">
              <a:rPr lang="es-MX" smtClean="0"/>
              <a:t>27/01/2024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E7D430-150D-4B42-96A2-C567A201F99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4483932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73" r:id="rId5"/>
    <p:sldLayoutId id="2147483667" r:id="rId6"/>
    <p:sldLayoutId id="2147483672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4">
              <a:lumMod val="40000"/>
              <a:lumOff val="60000"/>
            </a:schemeClr>
          </a:solidFill>
          <a:latin typeface="Yeseva One" panose="00000500000000000000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B47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71954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ed and white sign&#10;&#10;Description automatically generated">
            <a:extLst>
              <a:ext uri="{FF2B5EF4-FFF2-40B4-BE49-F238E27FC236}">
                <a16:creationId xmlns:a16="http://schemas.microsoft.com/office/drawing/2014/main" id="{22936304-9EBC-7282-8D0C-FA60C5A7B95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862" b="1"/>
          <a:stretch/>
        </p:blipFill>
        <p:spPr>
          <a:xfrm>
            <a:off x="0" y="5476972"/>
            <a:ext cx="12192000" cy="138102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6BF5846-E5CE-69A1-7929-CBCDFA2F8919}"/>
              </a:ext>
            </a:extLst>
          </p:cNvPr>
          <p:cNvSpPr/>
          <p:nvPr/>
        </p:nvSpPr>
        <p:spPr>
          <a:xfrm>
            <a:off x="801278" y="1245725"/>
            <a:ext cx="10589444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9600" b="1" cap="none" spc="0" dirty="0">
                <a:ln w="0"/>
                <a:solidFill>
                  <a:srgbClr val="F5EED6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" panose="00000500000000000000" pitchFamily="2" charset="0"/>
              </a:rPr>
              <a:t>APARENTANDO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A09608A-049A-527B-A18A-4AFACBB53ABF}"/>
              </a:ext>
            </a:extLst>
          </p:cNvPr>
          <p:cNvSpPr/>
          <p:nvPr/>
        </p:nvSpPr>
        <p:spPr>
          <a:xfrm rot="21445891">
            <a:off x="1371600" y="2184430"/>
            <a:ext cx="8803342" cy="264687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6600" dirty="0">
                <a:ln w="0"/>
                <a:gradFill>
                  <a:gsLst>
                    <a:gs pos="0">
                      <a:srgbClr val="CE69D8"/>
                    </a:gs>
                    <a:gs pos="100000">
                      <a:srgbClr val="E86B6B"/>
                    </a:gs>
                  </a:gsLst>
                  <a:lin ang="5400000" scaled="1"/>
                </a:gra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utography" pitchFamily="50" charset="0"/>
              </a:rPr>
              <a:t>y </a:t>
            </a:r>
            <a:r>
              <a:rPr lang="en-US" sz="16600" dirty="0" err="1">
                <a:ln w="0"/>
                <a:gradFill>
                  <a:gsLst>
                    <a:gs pos="0">
                      <a:srgbClr val="CE69D8"/>
                    </a:gs>
                    <a:gs pos="100000">
                      <a:srgbClr val="E86B6B"/>
                    </a:gs>
                  </a:gsLst>
                  <a:lin ang="5400000" scaled="1"/>
                </a:gra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utography" pitchFamily="50" charset="0"/>
              </a:rPr>
              <a:t>cumpliendo</a:t>
            </a:r>
            <a:endParaRPr lang="en-US" sz="16600" b="0" cap="none" spc="0" dirty="0">
              <a:ln w="0"/>
              <a:gradFill>
                <a:gsLst>
                  <a:gs pos="0">
                    <a:srgbClr val="CE69D8"/>
                  </a:gs>
                  <a:gs pos="100000">
                    <a:srgbClr val="E86B6B"/>
                  </a:gs>
                </a:gsLst>
                <a:lin ang="5400000" scaled="1"/>
              </a:gra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utography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95629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D5D4A-9EB1-63C6-2A81-056EB6C3D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MX" b="1" u="none" strike="noStrike" dirty="0">
                <a:effectLst/>
              </a:rPr>
              <a:t>9</a:t>
            </a:r>
            <a:r>
              <a:rPr lang="es-MX" u="none" strike="noStrike" dirty="0">
                <a:effectLst/>
              </a:rPr>
              <a:t> </a:t>
            </a:r>
            <a:r>
              <a:rPr lang="es-MX" dirty="0"/>
              <a:t>Dijo también Jesús esta parábola a unos que confiaban en sí mismos como justos, y despreciaban a los demás: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AC5DB7-5AD4-5B16-E725-DB8623F461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Lucas 18:9-14</a:t>
            </a:r>
          </a:p>
        </p:txBody>
      </p:sp>
    </p:spTree>
    <p:extLst>
      <p:ext uri="{BB962C8B-B14F-4D97-AF65-F5344CB8AC3E}">
        <p14:creationId xmlns:p14="http://schemas.microsoft.com/office/powerpoint/2010/main" val="23776421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D5D4A-9EB1-63C6-2A81-056EB6C3D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b="1" u="none" strike="noStrike" dirty="0">
                <a:effectLst/>
              </a:rPr>
              <a:t>10</a:t>
            </a:r>
            <a:r>
              <a:rPr lang="es-MX" u="none" strike="noStrike" dirty="0">
                <a:effectLst/>
              </a:rPr>
              <a:t> </a:t>
            </a:r>
            <a:r>
              <a:rPr lang="es-MX" dirty="0"/>
              <a:t>«Dos hombres subieron al templo a orar; uno era fariseo y el otro recaudador de impuestos.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AC5DB7-5AD4-5B16-E725-DB8623F461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Lucas 18:9-14</a:t>
            </a:r>
          </a:p>
        </p:txBody>
      </p:sp>
    </p:spTree>
    <p:extLst>
      <p:ext uri="{BB962C8B-B14F-4D97-AF65-F5344CB8AC3E}">
        <p14:creationId xmlns:p14="http://schemas.microsoft.com/office/powerpoint/2010/main" val="17582396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D5D4A-9EB1-63C6-2A81-056EB6C3D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MX" sz="4400" b="1" u="none" strike="noStrike" dirty="0">
                <a:effectLst/>
              </a:rPr>
              <a:t>11</a:t>
            </a:r>
            <a:r>
              <a:rPr lang="es-MX" sz="4400" u="none" strike="noStrike" dirty="0">
                <a:effectLst/>
              </a:rPr>
              <a:t> </a:t>
            </a:r>
            <a:r>
              <a:rPr lang="es-MX" sz="4400" dirty="0"/>
              <a:t>»El fariseo puesto en pie, oraba para sí de esta manera: “Dios, te doy gracias porque no soy como los demás hombres: estafadores, injustos, adúlteros; ni aun como este recaudador de impuestos.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AC5DB7-5AD4-5B16-E725-DB8623F461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Lucas 18:9-14</a:t>
            </a:r>
          </a:p>
        </p:txBody>
      </p:sp>
    </p:spTree>
    <p:extLst>
      <p:ext uri="{BB962C8B-B14F-4D97-AF65-F5344CB8AC3E}">
        <p14:creationId xmlns:p14="http://schemas.microsoft.com/office/powerpoint/2010/main" val="36451547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D5D4A-9EB1-63C6-2A81-056EB6C3D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b="1" u="none" strike="noStrike" dirty="0">
                <a:effectLst/>
              </a:rPr>
              <a:t>12</a:t>
            </a:r>
            <a:r>
              <a:rPr lang="es-MX" u="none" strike="noStrike" dirty="0">
                <a:effectLst/>
              </a:rPr>
              <a:t> </a:t>
            </a:r>
            <a:r>
              <a:rPr lang="es-MX" dirty="0"/>
              <a:t>”Yo ayuno dos veces por semana; doy el diezmo de todo lo que gano”.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AC5DB7-5AD4-5B16-E725-DB8623F461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Lucas 18:9-14</a:t>
            </a:r>
          </a:p>
        </p:txBody>
      </p:sp>
    </p:spTree>
    <p:extLst>
      <p:ext uri="{BB962C8B-B14F-4D97-AF65-F5344CB8AC3E}">
        <p14:creationId xmlns:p14="http://schemas.microsoft.com/office/powerpoint/2010/main" val="190656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D5D4A-9EB1-63C6-2A81-056EB6C3D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MX" sz="4000" b="1" u="none" strike="noStrike" dirty="0">
                <a:effectLst/>
              </a:rPr>
              <a:t>13</a:t>
            </a:r>
            <a:r>
              <a:rPr lang="es-MX" sz="4000" u="none" strike="noStrike" dirty="0">
                <a:effectLst/>
              </a:rPr>
              <a:t> </a:t>
            </a:r>
            <a:r>
              <a:rPr lang="es-MX" sz="4000" dirty="0"/>
              <a:t>»Pero el recaudador de impuestos, de pie y a cierta distancia, no quería ni siquiera alzar los ojos al cielo, sino que se golpeaba el pecho, diciendo: “Dios, ten piedad de mí, pecador”.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AC5DB7-5AD4-5B16-E725-DB8623F461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Lucas 18:9-14</a:t>
            </a:r>
          </a:p>
        </p:txBody>
      </p:sp>
    </p:spTree>
    <p:extLst>
      <p:ext uri="{BB962C8B-B14F-4D97-AF65-F5344CB8AC3E}">
        <p14:creationId xmlns:p14="http://schemas.microsoft.com/office/powerpoint/2010/main" val="12891116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BFCBA14-356F-37B4-AAA1-1474F2E57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Para pensar: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6C69A6-595C-0FDE-9B10-2A6E3108952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676400" y="1451295"/>
            <a:ext cx="9677400" cy="5041580"/>
          </a:xfrm>
        </p:spPr>
        <p:txBody>
          <a:bodyPr>
            <a:normAutofit fontScale="55000" lnSpcReduction="20000"/>
          </a:bodyPr>
          <a:lstStyle/>
          <a:p>
            <a:r>
              <a:rPr lang="es-MX" dirty="0"/>
              <a:t>¿Con cuál de los dos personajes te sentías más identificado? ¿Cuál de los dos puntos de vista se acerca más al tuyo? ¿Por qué? </a:t>
            </a:r>
          </a:p>
          <a:p>
            <a:r>
              <a:rPr lang="es-MX" dirty="0"/>
              <a:t>¿Qué es lo que te gusta o no te gusta de la idea de ser como el fariseo?</a:t>
            </a:r>
          </a:p>
          <a:p>
            <a:r>
              <a:rPr lang="es-MX" dirty="0"/>
              <a:t>¿Qué es lo que te gusta o no te gusta de la idea de ser como el recaudador de impuestos?</a:t>
            </a:r>
          </a:p>
          <a:p>
            <a:r>
              <a:rPr lang="es-MX" dirty="0"/>
              <a:t> ¿Por qué el fariseo es “el malo” en esta parábola? ¡Las cosas que él hace no son malas!</a:t>
            </a:r>
          </a:p>
        </p:txBody>
      </p:sp>
    </p:spTree>
    <p:extLst>
      <p:ext uri="{BB962C8B-B14F-4D97-AF65-F5344CB8AC3E}">
        <p14:creationId xmlns:p14="http://schemas.microsoft.com/office/powerpoint/2010/main" val="41346099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D5D4A-9EB1-63C6-2A81-056EB6C3D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MX" sz="4400" b="1" u="none" strike="noStrike" dirty="0">
                <a:effectLst/>
              </a:rPr>
              <a:t>18</a:t>
            </a:r>
            <a:r>
              <a:rPr lang="es-MX" sz="4400" u="none" strike="noStrike" dirty="0">
                <a:effectLst/>
              </a:rPr>
              <a:t> </a:t>
            </a:r>
            <a:r>
              <a:rPr lang="es-MX" sz="4400" dirty="0"/>
              <a:t>Cierto hombre prominente le preguntó a Jesús: «Maestro bueno, ¿qué haré para heredar la vida eterna?». </a:t>
            </a:r>
            <a:endParaRPr lang="es-MX" sz="115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AC5DB7-5AD4-5B16-E725-DB8623F461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Lucas 18:18-23</a:t>
            </a:r>
          </a:p>
        </p:txBody>
      </p:sp>
    </p:spTree>
    <p:extLst>
      <p:ext uri="{BB962C8B-B14F-4D97-AF65-F5344CB8AC3E}">
        <p14:creationId xmlns:p14="http://schemas.microsoft.com/office/powerpoint/2010/main" val="24889193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D5D4A-9EB1-63C6-2A81-056EB6C3D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MX" sz="4800" b="1" u="none" strike="noStrike" dirty="0">
                <a:effectLst/>
              </a:rPr>
              <a:t>19</a:t>
            </a:r>
            <a:r>
              <a:rPr lang="es-MX" sz="4800" u="none" strike="noStrike" dirty="0">
                <a:effectLst/>
              </a:rPr>
              <a:t> </a:t>
            </a:r>
            <a:r>
              <a:rPr lang="es-MX" sz="4800" dirty="0"/>
              <a:t>Jesús le respondió: «¿Por qué me llamas bueno? Nadie es bueno, sino solo uno, Dios.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AC5DB7-5AD4-5B16-E725-DB8623F461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Lucas 18:18-23</a:t>
            </a:r>
          </a:p>
        </p:txBody>
      </p:sp>
    </p:spTree>
    <p:extLst>
      <p:ext uri="{BB962C8B-B14F-4D97-AF65-F5344CB8AC3E}">
        <p14:creationId xmlns:p14="http://schemas.microsoft.com/office/powerpoint/2010/main" val="26445185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D5D4A-9EB1-63C6-2A81-056EB6C3D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MX" sz="4800" b="1" u="none" strike="noStrike" dirty="0">
                <a:effectLst/>
              </a:rPr>
              <a:t>20</a:t>
            </a:r>
            <a:r>
              <a:rPr lang="es-MX" sz="4800" u="none" strike="noStrike" dirty="0">
                <a:effectLst/>
              </a:rPr>
              <a:t> </a:t>
            </a:r>
            <a:r>
              <a:rPr lang="es-MX" sz="4800" dirty="0"/>
              <a:t>»Tú sabes los mandamientos: “N</a:t>
            </a:r>
            <a:r>
              <a:rPr lang="es-MX" sz="4800" cap="small" dirty="0">
                <a:effectLst/>
              </a:rPr>
              <a:t>o cometas adulterio, no mates, no hurtes</a:t>
            </a:r>
            <a:r>
              <a:rPr lang="es-MX" sz="4800" dirty="0"/>
              <a:t>, </a:t>
            </a:r>
            <a:r>
              <a:rPr lang="es-MX" sz="4800" cap="small" dirty="0">
                <a:effectLst/>
              </a:rPr>
              <a:t>no des falso testimonio</a:t>
            </a:r>
            <a:r>
              <a:rPr lang="es-MX" sz="4800" dirty="0"/>
              <a:t>, </a:t>
            </a:r>
            <a:r>
              <a:rPr lang="es-MX" sz="4800" cap="small" dirty="0">
                <a:effectLst/>
              </a:rPr>
              <a:t>honra a tu padre y a tu madre</a:t>
            </a:r>
            <a:r>
              <a:rPr lang="es-MX" sz="4800" dirty="0"/>
              <a:t>”».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AC5DB7-5AD4-5B16-E725-DB8623F461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Lucas 18:18-23</a:t>
            </a:r>
          </a:p>
        </p:txBody>
      </p:sp>
    </p:spTree>
    <p:extLst>
      <p:ext uri="{BB962C8B-B14F-4D97-AF65-F5344CB8AC3E}">
        <p14:creationId xmlns:p14="http://schemas.microsoft.com/office/powerpoint/2010/main" val="23429770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D5D4A-9EB1-63C6-2A81-056EB6C3D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MX" sz="4800" b="1" u="none" strike="noStrike" dirty="0">
                <a:effectLst/>
              </a:rPr>
              <a:t>21</a:t>
            </a:r>
            <a:r>
              <a:rPr lang="es-MX" sz="4800" u="none" strike="noStrike" dirty="0">
                <a:effectLst/>
              </a:rPr>
              <a:t> </a:t>
            </a:r>
            <a:r>
              <a:rPr lang="es-MX" sz="4800" dirty="0"/>
              <a:t>«Todo esto lo he guardado desde mi juventud», dijo el hombre.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AC5DB7-5AD4-5B16-E725-DB8623F461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Lucas 18:18-23</a:t>
            </a:r>
          </a:p>
        </p:txBody>
      </p:sp>
    </p:spTree>
    <p:extLst>
      <p:ext uri="{BB962C8B-B14F-4D97-AF65-F5344CB8AC3E}">
        <p14:creationId xmlns:p14="http://schemas.microsoft.com/office/powerpoint/2010/main" val="30393718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D5D4A-9EB1-63C6-2A81-056EB6C3D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MX" sz="4800" b="1" u="none" strike="noStrike" dirty="0">
                <a:effectLst/>
              </a:rPr>
              <a:t>22</a:t>
            </a:r>
            <a:r>
              <a:rPr lang="es-MX" sz="4800" u="none" strike="noStrike" dirty="0">
                <a:effectLst/>
              </a:rPr>
              <a:t> </a:t>
            </a:r>
            <a:r>
              <a:rPr lang="es-MX" sz="4800" dirty="0"/>
              <a:t>Cuando Jesús oyó esto, le dijo: «Te falta todavía una cosa; vende todo lo que tienes y reparte entre los pobres, y tendrás tesoro en los cielos; y ven, sígueme».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AC5DB7-5AD4-5B16-E725-DB8623F461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Lucas 18:18-23</a:t>
            </a:r>
          </a:p>
        </p:txBody>
      </p:sp>
    </p:spTree>
    <p:extLst>
      <p:ext uri="{BB962C8B-B14F-4D97-AF65-F5344CB8AC3E}">
        <p14:creationId xmlns:p14="http://schemas.microsoft.com/office/powerpoint/2010/main" val="38309001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D5D4A-9EB1-63C6-2A81-056EB6C3D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MX" sz="4800" b="1" u="none" strike="noStrike" dirty="0">
                <a:effectLst/>
              </a:rPr>
              <a:t>23</a:t>
            </a:r>
            <a:r>
              <a:rPr lang="es-MX" sz="4800" u="none" strike="noStrike" dirty="0">
                <a:effectLst/>
              </a:rPr>
              <a:t> </a:t>
            </a:r>
            <a:r>
              <a:rPr lang="es-MX" sz="4800" dirty="0"/>
              <a:t>Pero al oír esto, se puso muy triste, pues era sumamente rico.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AC5DB7-5AD4-5B16-E725-DB8623F461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Lucas 18:18-23</a:t>
            </a:r>
          </a:p>
        </p:txBody>
      </p:sp>
    </p:spTree>
    <p:extLst>
      <p:ext uri="{BB962C8B-B14F-4D97-AF65-F5344CB8AC3E}">
        <p14:creationId xmlns:p14="http://schemas.microsoft.com/office/powerpoint/2010/main" val="31204583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BFCBA14-356F-37B4-AAA1-1474F2E57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Para pensar: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6C69A6-595C-0FDE-9B10-2A6E3108952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676400" y="1451295"/>
            <a:ext cx="9677400" cy="5041580"/>
          </a:xfrm>
        </p:spPr>
        <p:txBody>
          <a:bodyPr>
            <a:normAutofit/>
          </a:bodyPr>
          <a:lstStyle/>
          <a:p>
            <a:r>
              <a:rPr lang="es-MX" dirty="0">
                <a:effectLst/>
              </a:rPr>
              <a:t>¿Cómo describirías el concepto de Dios que tenía este hombre?</a:t>
            </a:r>
          </a:p>
          <a:p>
            <a:r>
              <a:rPr lang="es-MX" dirty="0">
                <a:effectLst/>
              </a:rPr>
              <a:t>¿Cómo describirías el concepto que tenía de sí mismo?</a:t>
            </a:r>
          </a:p>
        </p:txBody>
      </p:sp>
    </p:spTree>
    <p:extLst>
      <p:ext uri="{BB962C8B-B14F-4D97-AF65-F5344CB8AC3E}">
        <p14:creationId xmlns:p14="http://schemas.microsoft.com/office/powerpoint/2010/main" val="33248749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4DD97DD-43D3-F5D3-B4EE-BD7F9628B26B}"/>
              </a:ext>
            </a:extLst>
          </p:cNvPr>
          <p:cNvSpPr txBox="1"/>
          <p:nvPr/>
        </p:nvSpPr>
        <p:spPr>
          <a:xfrm>
            <a:off x="1305611" y="4157323"/>
            <a:ext cx="9045020" cy="11378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s-MX" sz="2400" cap="all" spc="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SemiBold" panose="00000700000000000000" pitchFamily="2" charset="0"/>
              </a:rPr>
              <a:t>minimiza el pecado al fingir ser algo que no somos.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EE2DFBC-5830-AFAB-8F6E-7C16914F4B27}"/>
              </a:ext>
            </a:extLst>
          </p:cNvPr>
          <p:cNvSpPr/>
          <p:nvPr/>
        </p:nvSpPr>
        <p:spPr>
          <a:xfrm>
            <a:off x="1141820" y="874818"/>
            <a:ext cx="9372600" cy="31547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9900" b="1" cap="none" spc="0" dirty="0" err="1">
                <a:ln w="12700" cmpd="sng">
                  <a:noFill/>
                  <a:prstDash val="solid"/>
                </a:ln>
                <a:gradFill flip="none" rotWithShape="1"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effectLst/>
                <a:latin typeface="Braniella" panose="02000500000000000000" pitchFamily="2" charset="0"/>
              </a:rPr>
              <a:t>Aparentar</a:t>
            </a:r>
            <a:endParaRPr lang="en-US" sz="19900" b="1" cap="none" spc="0" dirty="0">
              <a:ln w="12700" cmpd="sng">
                <a:noFill/>
                <a:prstDash val="solid"/>
              </a:ln>
              <a:gradFill flip="none" rotWithShape="1"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effectLst/>
              <a:latin typeface="Braniella" panose="02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59628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4DD97DD-43D3-F5D3-B4EE-BD7F9628B26B}"/>
              </a:ext>
            </a:extLst>
          </p:cNvPr>
          <p:cNvSpPr txBox="1"/>
          <p:nvPr/>
        </p:nvSpPr>
        <p:spPr>
          <a:xfrm>
            <a:off x="769853" y="4157323"/>
            <a:ext cx="10116536" cy="22268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s-MX" cap="all" spc="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SemiBold" panose="00000700000000000000" pitchFamily="2" charset="0"/>
              </a:rPr>
              <a:t>reduce la santidad de Dios rebajando su nivel de exigencia hasta llegar a un nivel que podemos alcanzar y así merecer su favor.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EE2DFBC-5830-AFAB-8F6E-7C16914F4B27}"/>
              </a:ext>
            </a:extLst>
          </p:cNvPr>
          <p:cNvSpPr/>
          <p:nvPr/>
        </p:nvSpPr>
        <p:spPr>
          <a:xfrm>
            <a:off x="1141820" y="874818"/>
            <a:ext cx="9372600" cy="31547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9900" b="1" dirty="0" err="1">
                <a:ln w="12700" cmpd="sng">
                  <a:noFill/>
                  <a:prstDash val="solid"/>
                </a:ln>
                <a:gradFill flip="none" rotWithShape="1"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Braniella" panose="02000500000000000000" pitchFamily="2" charset="0"/>
              </a:rPr>
              <a:t>Cumplir</a:t>
            </a:r>
            <a:endParaRPr lang="en-US" sz="19900" b="1" cap="none" spc="0" dirty="0">
              <a:ln w="12700" cmpd="sng">
                <a:noFill/>
                <a:prstDash val="solid"/>
              </a:ln>
              <a:gradFill flip="none" rotWithShape="1"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effectLst/>
              <a:latin typeface="Braniella" panose="02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2573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cross">
            <a:extLst>
              <a:ext uri="{FF2B5EF4-FFF2-40B4-BE49-F238E27FC236}">
                <a16:creationId xmlns:a16="http://schemas.microsoft.com/office/drawing/2014/main" id="{17306D05-5D62-4533-2DEC-E1CE16A2D9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14296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B45293-7658-6B6B-19E6-519BD4B750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676400" y="405353"/>
            <a:ext cx="10003410" cy="6033154"/>
          </a:xfrm>
        </p:spPr>
        <p:txBody>
          <a:bodyPr>
            <a:noAutofit/>
          </a:bodyPr>
          <a:lstStyle/>
          <a:p>
            <a:pPr marL="0" indent="0">
              <a:lnSpc>
                <a:spcPct val="155000"/>
              </a:lnSpc>
              <a:buNone/>
            </a:pPr>
            <a:r>
              <a:rPr lang="es-MX" sz="3200" dirty="0"/>
              <a:t>Cuando el Evangelio funciona correctamente en nuestras vidas, nuestra conciencia acerca del carácter Santo de Dios crece constantemente. Nos damos cuenta en formas más completas y profundas del peso de la gloriosa perfección de Dios, además nuestra conciencia acerca de nuestra naturaleza pecaminosa crece constantemente.</a:t>
            </a:r>
          </a:p>
        </p:txBody>
      </p:sp>
    </p:spTree>
    <p:extLst>
      <p:ext uri="{BB962C8B-B14F-4D97-AF65-F5344CB8AC3E}">
        <p14:creationId xmlns:p14="http://schemas.microsoft.com/office/powerpoint/2010/main" val="21982288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B45293-7658-6B6B-19E6-519BD4B750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676400" y="405353"/>
            <a:ext cx="10003410" cy="4223208"/>
          </a:xfrm>
        </p:spPr>
        <p:txBody>
          <a:bodyPr>
            <a:noAutofit/>
          </a:bodyPr>
          <a:lstStyle/>
          <a:p>
            <a:pPr marL="0" indent="0" algn="ctr">
              <a:lnSpc>
                <a:spcPct val="250000"/>
              </a:lnSpc>
              <a:buNone/>
            </a:pPr>
            <a:r>
              <a:rPr lang="es-MX" sz="1600" cap="all" spc="300" dirty="0"/>
              <a:t>Cuando no estamos anclados </a:t>
            </a:r>
            <a:br>
              <a:rPr lang="es-MX" sz="1600" cap="all" spc="300" dirty="0"/>
            </a:br>
            <a:r>
              <a:rPr lang="es-MX" sz="1600" cap="all" spc="300" dirty="0"/>
              <a:t>en la verdad del Evangelio, nuestro </a:t>
            </a:r>
            <a:br>
              <a:rPr lang="es-MX" sz="1600" cap="all" spc="300" dirty="0"/>
            </a:br>
            <a:r>
              <a:rPr lang="es-MX" sz="1600" cap="all" spc="300" dirty="0"/>
              <a:t>amor  por Jesús y nuestra experiencia </a:t>
            </a:r>
            <a:br>
              <a:rPr lang="es-MX" sz="1600" cap="all" spc="300" dirty="0"/>
            </a:br>
            <a:r>
              <a:rPr lang="es-MX" sz="1600" cap="all" spc="300" dirty="0"/>
              <a:t>de su bondad llegan a ser muy pequeños.</a:t>
            </a:r>
            <a:br>
              <a:rPr lang="es-MX" sz="1600" cap="all" spc="300" dirty="0"/>
            </a:br>
            <a:r>
              <a:rPr lang="es-MX" sz="1600" cap="all" spc="300" dirty="0"/>
              <a:t>Terminamos “reduciendo la Cruz” ya sea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4E412E1-4734-A90C-9BCE-2D75C04E8752}"/>
              </a:ext>
            </a:extLst>
          </p:cNvPr>
          <p:cNvSpPr/>
          <p:nvPr/>
        </p:nvSpPr>
        <p:spPr>
          <a:xfrm rot="21438436">
            <a:off x="283979" y="3363494"/>
            <a:ext cx="9372600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9600" b="1" cap="none" spc="0" dirty="0" err="1">
                <a:ln w="12700" cmpd="sng">
                  <a:noFill/>
                  <a:prstDash val="solid"/>
                </a:ln>
                <a:gradFill flip="none" rotWithShape="1"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raniella" panose="02000500000000000000" pitchFamily="2" charset="0"/>
              </a:rPr>
              <a:t>aparentando</a:t>
            </a:r>
            <a:r>
              <a:rPr lang="en-US" sz="9600" b="1" cap="none" spc="0" dirty="0">
                <a:ln w="12700" cmpd="sng">
                  <a:noFill/>
                  <a:prstDash val="solid"/>
                </a:ln>
                <a:gradFill flip="none" rotWithShape="1"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raniella" panose="02000500000000000000" pitchFamily="2" charset="0"/>
              </a:rPr>
              <a:t> o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CBD8904-0B00-5723-95E1-CDA8E0F19DFF}"/>
              </a:ext>
            </a:extLst>
          </p:cNvPr>
          <p:cNvSpPr/>
          <p:nvPr/>
        </p:nvSpPr>
        <p:spPr>
          <a:xfrm rot="21438436">
            <a:off x="3782893" y="4354882"/>
            <a:ext cx="9372600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9600" b="1" cap="none" spc="0" dirty="0" err="1">
                <a:ln w="12700" cmpd="sng">
                  <a:noFill/>
                  <a:prstDash val="solid"/>
                </a:ln>
                <a:gradFill flip="none" rotWithShape="1"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raniella" panose="02000500000000000000" pitchFamily="2" charset="0"/>
              </a:rPr>
              <a:t>cumpliendo</a:t>
            </a:r>
            <a:endParaRPr lang="en-US" sz="9600" b="1" cap="none" spc="0" dirty="0">
              <a:ln w="12700" cmpd="sng">
                <a:noFill/>
                <a:prstDash val="solid"/>
              </a:ln>
              <a:gradFill flip="none" rotWithShape="1"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Braniella" panose="02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60262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6A74C-5963-ADE8-AACD-F3388CF84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dirty="0"/>
              <a:t>UNA JUSTICIA LABORAL: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BDEDA4-2582-D1CE-3173-54785DC5DEF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MX" sz="6000" dirty="0"/>
              <a:t>Soy una persona que trabaja mucho y bien, así que Dios me recompensará.</a:t>
            </a:r>
          </a:p>
        </p:txBody>
      </p:sp>
    </p:spTree>
    <p:extLst>
      <p:ext uri="{BB962C8B-B14F-4D97-AF65-F5344CB8AC3E}">
        <p14:creationId xmlns:p14="http://schemas.microsoft.com/office/powerpoint/2010/main" val="3462546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6A74C-5963-ADE8-AACD-F3388CF84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4400" dirty="0"/>
              <a:t>UNA JUSTICIA FAMILIAR:</a:t>
            </a:r>
            <a:endParaRPr lang="es-MX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BDEDA4-2582-D1CE-3173-54785DC5DEF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s-MX" sz="6000" dirty="0"/>
              <a:t>Porque “hago las cosas bien” como padre de familia, soy más espiritual que otros padres que no pueden controlar a sus hijos.</a:t>
            </a:r>
          </a:p>
        </p:txBody>
      </p:sp>
    </p:spTree>
    <p:extLst>
      <p:ext uri="{BB962C8B-B14F-4D97-AF65-F5344CB8AC3E}">
        <p14:creationId xmlns:p14="http://schemas.microsoft.com/office/powerpoint/2010/main" val="2599298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6A74C-5963-ADE8-AACD-F3388CF84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MX" sz="4400" dirty="0"/>
              <a:t>UNA JUSTICIA TEOLÓGICA: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BDEDA4-2582-D1CE-3173-54785DC5DEF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s-MX" sz="6000" dirty="0"/>
              <a:t>Tengo una buena teología; Dios me prefiere más que a aquellos que tienen una mala teología.</a:t>
            </a:r>
          </a:p>
        </p:txBody>
      </p:sp>
    </p:spTree>
    <p:extLst>
      <p:ext uri="{BB962C8B-B14F-4D97-AF65-F5344CB8AC3E}">
        <p14:creationId xmlns:p14="http://schemas.microsoft.com/office/powerpoint/2010/main" val="3042182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6A74C-5963-ADE8-AACD-F3388CF84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MX" sz="4400" dirty="0"/>
              <a:t>UNA JUSTICIA INTELECTUAL: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BDEDA4-2582-D1CE-3173-54785DC5DEF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s-MX" sz="6000" dirty="0"/>
              <a:t>He leído más libros, me expreso mejor, y soy más culto que otros — lo cual, evidentemente, me hace superior.</a:t>
            </a:r>
          </a:p>
        </p:txBody>
      </p:sp>
    </p:spTree>
    <p:extLst>
      <p:ext uri="{BB962C8B-B14F-4D97-AF65-F5344CB8AC3E}">
        <p14:creationId xmlns:p14="http://schemas.microsoft.com/office/powerpoint/2010/main" val="790281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6A74C-5963-ADE8-AACD-F3388CF84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365125"/>
            <a:ext cx="9677399" cy="1482529"/>
          </a:xfrm>
        </p:spPr>
        <p:txBody>
          <a:bodyPr>
            <a:normAutofit/>
          </a:bodyPr>
          <a:lstStyle/>
          <a:p>
            <a:r>
              <a:rPr lang="es-MX" sz="6000" dirty="0">
                <a:latin typeface="Oswald" pitchFamily="2" charset="0"/>
              </a:rPr>
              <a:t>UNA JUSTICIA DE HORARIO: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BDEDA4-2582-D1CE-3173-54785DC5DEF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676400" y="2036190"/>
            <a:ext cx="9677400" cy="4205218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s-MX" sz="6000" dirty="0"/>
              <a:t>Soy </a:t>
            </a:r>
            <a:r>
              <a:rPr lang="es-MX" sz="6000" dirty="0" err="1"/>
              <a:t>autodisciplinado</a:t>
            </a:r>
            <a:r>
              <a:rPr lang="es-MX" sz="6000" dirty="0"/>
              <a:t> y riguroso con mi gestión del tiempo, lo cual me hace más maduro que otros.</a:t>
            </a:r>
          </a:p>
        </p:txBody>
      </p:sp>
    </p:spTree>
    <p:extLst>
      <p:ext uri="{BB962C8B-B14F-4D97-AF65-F5344CB8AC3E}">
        <p14:creationId xmlns:p14="http://schemas.microsoft.com/office/powerpoint/2010/main" val="26434685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6A74C-5963-ADE8-AACD-F3388CF84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365125"/>
            <a:ext cx="9677399" cy="1482529"/>
          </a:xfrm>
        </p:spPr>
        <p:txBody>
          <a:bodyPr>
            <a:normAutofit fontScale="90000"/>
          </a:bodyPr>
          <a:lstStyle/>
          <a:p>
            <a:r>
              <a:rPr lang="es-MX" sz="6000" dirty="0">
                <a:latin typeface="Oswald" pitchFamily="2" charset="0"/>
              </a:rPr>
              <a:t>UNA JUSTICIA DE LA FLEXIBILIDAD: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BDEDA4-2582-D1CE-3173-54785DC5DEF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676400" y="2036190"/>
            <a:ext cx="9677400" cy="420521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s-MX" sz="6000" dirty="0"/>
              <a:t>En un mundo tan ocupado, yo soy flexible y relajado. Siempre tengo tiempo para otros. ¡A los que no son así debería darles vergüenza!</a:t>
            </a:r>
          </a:p>
        </p:txBody>
      </p:sp>
    </p:spTree>
    <p:extLst>
      <p:ext uri="{BB962C8B-B14F-4D97-AF65-F5344CB8AC3E}">
        <p14:creationId xmlns:p14="http://schemas.microsoft.com/office/powerpoint/2010/main" val="26545688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6A74C-5963-ADE8-AACD-F3388CF84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365125"/>
            <a:ext cx="9677399" cy="1482529"/>
          </a:xfrm>
        </p:spPr>
        <p:txBody>
          <a:bodyPr>
            <a:normAutofit fontScale="90000"/>
          </a:bodyPr>
          <a:lstStyle/>
          <a:p>
            <a:r>
              <a:rPr lang="es-MX" sz="6000" dirty="0">
                <a:latin typeface="Oswald" pitchFamily="2" charset="0"/>
              </a:rPr>
              <a:t>UNA JUSTICIA DE LA MISERICORDIA: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BDEDA4-2582-D1CE-3173-54785DC5DEF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676400" y="2036190"/>
            <a:ext cx="9677400" cy="420521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s-MX" sz="6000" dirty="0"/>
              <a:t>Tengo cuidado de los pobres y desvalidos de la manera en que todos deberían hacerlo.</a:t>
            </a:r>
          </a:p>
        </p:txBody>
      </p:sp>
    </p:spTree>
    <p:extLst>
      <p:ext uri="{BB962C8B-B14F-4D97-AF65-F5344CB8AC3E}">
        <p14:creationId xmlns:p14="http://schemas.microsoft.com/office/powerpoint/2010/main" val="155918575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6A74C-5963-ADE8-AACD-F3388CF84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365125"/>
            <a:ext cx="9677399" cy="1482529"/>
          </a:xfrm>
        </p:spPr>
        <p:txBody>
          <a:bodyPr>
            <a:normAutofit/>
          </a:bodyPr>
          <a:lstStyle/>
          <a:p>
            <a:r>
              <a:rPr lang="es-MX" sz="6000" dirty="0">
                <a:latin typeface="Oswald" pitchFamily="2" charset="0"/>
              </a:rPr>
              <a:t>UNA JUSTICIA LEGALISTA: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BDEDA4-2582-D1CE-3173-54785DC5DEF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676400" y="2036190"/>
            <a:ext cx="9677400" cy="4205218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s-MX" sz="6000" dirty="0"/>
              <a:t>Yo no bebo, ni fumo, ni juego, ni ando con la clase de personas que hacen estas cosas. Hoy en día hay demasiados cristianos que no se preocupan por la santidad.</a:t>
            </a:r>
          </a:p>
        </p:txBody>
      </p:sp>
    </p:spTree>
    <p:extLst>
      <p:ext uri="{BB962C8B-B14F-4D97-AF65-F5344CB8AC3E}">
        <p14:creationId xmlns:p14="http://schemas.microsoft.com/office/powerpoint/2010/main" val="110242448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6A74C-5963-ADE8-AACD-F3388CF84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365125"/>
            <a:ext cx="9677399" cy="1482529"/>
          </a:xfrm>
        </p:spPr>
        <p:txBody>
          <a:bodyPr>
            <a:normAutofit/>
          </a:bodyPr>
          <a:lstStyle/>
          <a:p>
            <a:r>
              <a:rPr lang="es-MX" sz="6000" dirty="0">
                <a:latin typeface="Oswald" pitchFamily="2" charset="0"/>
              </a:rPr>
              <a:t>UNA JUSTICIA FINANCIERA: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BDEDA4-2582-D1CE-3173-54785DC5DEF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676400" y="2036190"/>
            <a:ext cx="9677400" cy="420521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s-MX" sz="6000" dirty="0"/>
              <a:t>Manejo el dinero sabiamente y no tengo deudas. No soy como esos cristianos materialistas que no controlan sus gastos.</a:t>
            </a:r>
          </a:p>
        </p:txBody>
      </p:sp>
    </p:spTree>
    <p:extLst>
      <p:ext uri="{BB962C8B-B14F-4D97-AF65-F5344CB8AC3E}">
        <p14:creationId xmlns:p14="http://schemas.microsoft.com/office/powerpoint/2010/main" val="359903307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6A74C-5963-ADE8-AACD-F3388CF84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365125"/>
            <a:ext cx="9677399" cy="1482529"/>
          </a:xfrm>
        </p:spPr>
        <p:txBody>
          <a:bodyPr>
            <a:normAutofit/>
          </a:bodyPr>
          <a:lstStyle/>
          <a:p>
            <a:r>
              <a:rPr lang="es-MX" sz="6000" dirty="0">
                <a:latin typeface="Oswald" pitchFamily="2" charset="0"/>
              </a:rPr>
              <a:t>UNA JUSTICIA POLÍTICA: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BDEDA4-2582-D1CE-3173-54785DC5DEF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676400" y="2036190"/>
            <a:ext cx="9677400" cy="42052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sz="6000" dirty="0"/>
              <a:t>Si realmente amas a Dios, votarás por mi candidato.</a:t>
            </a:r>
          </a:p>
        </p:txBody>
      </p:sp>
    </p:spTree>
    <p:extLst>
      <p:ext uri="{BB962C8B-B14F-4D97-AF65-F5344CB8AC3E}">
        <p14:creationId xmlns:p14="http://schemas.microsoft.com/office/powerpoint/2010/main" val="127274173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6A74C-5963-ADE8-AACD-F3388CF84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365125"/>
            <a:ext cx="9677399" cy="1482529"/>
          </a:xfrm>
        </p:spPr>
        <p:txBody>
          <a:bodyPr>
            <a:normAutofit/>
          </a:bodyPr>
          <a:lstStyle/>
          <a:p>
            <a:r>
              <a:rPr lang="es-MX" sz="6000" dirty="0">
                <a:latin typeface="Oswald" pitchFamily="2" charset="0"/>
              </a:rPr>
              <a:t>UNA JUSTICIA DE LA TOLERANCIA: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BDEDA4-2582-D1CE-3173-54785DC5DEF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676400" y="2036190"/>
            <a:ext cx="9677400" cy="420521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s-MX" sz="6000" dirty="0"/>
              <a:t>Tengo una mente abierta y soy amable con aquellos que no están de acuerdo conmigo. De hecho, me parezco mucho a Jesús en ese sentido.</a:t>
            </a:r>
          </a:p>
        </p:txBody>
      </p:sp>
    </p:spTree>
    <p:extLst>
      <p:ext uri="{BB962C8B-B14F-4D97-AF65-F5344CB8AC3E}">
        <p14:creationId xmlns:p14="http://schemas.microsoft.com/office/powerpoint/2010/main" val="158608887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B45293-7658-6B6B-19E6-519BD4B750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685827" y="895548"/>
            <a:ext cx="10003410" cy="1253765"/>
          </a:xfrm>
        </p:spPr>
        <p:txBody>
          <a:bodyPr>
            <a:noAutofit/>
          </a:bodyPr>
          <a:lstStyle/>
          <a:p>
            <a:pPr marL="0" indent="0" algn="ctr">
              <a:lnSpc>
                <a:spcPct val="250000"/>
              </a:lnSpc>
              <a:buNone/>
            </a:pPr>
            <a:r>
              <a:rPr lang="es-MX" sz="1600" b="1" cap="all" spc="300" dirty="0"/>
              <a:t>SI DIOS EN ESTE MOMENTO, DIOS PENSARA EN TI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4E412E1-4734-A90C-9BCE-2D75C04E8752}"/>
              </a:ext>
            </a:extLst>
          </p:cNvPr>
          <p:cNvSpPr/>
          <p:nvPr/>
        </p:nvSpPr>
        <p:spPr>
          <a:xfrm rot="21438436">
            <a:off x="2001232" y="2037854"/>
            <a:ext cx="9372600" cy="304698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9600" b="1" cap="none" spc="0" dirty="0">
                <a:ln w="12700" cmpd="sng">
                  <a:noFill/>
                  <a:prstDash val="solid"/>
                </a:ln>
                <a:gradFill flip="none" rotWithShape="1"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raniella" panose="02000500000000000000" pitchFamily="2" charset="0"/>
              </a:rPr>
              <a:t>¿</a:t>
            </a:r>
            <a:r>
              <a:rPr lang="en-US" sz="9600" b="1" cap="none" spc="0" dirty="0" err="1">
                <a:ln w="12700" cmpd="sng">
                  <a:noFill/>
                  <a:prstDash val="solid"/>
                </a:ln>
                <a:gradFill flip="none" rotWithShape="1"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raniella" panose="02000500000000000000" pitchFamily="2" charset="0"/>
              </a:rPr>
              <a:t>Qué</a:t>
            </a:r>
            <a:r>
              <a:rPr lang="en-US" sz="9600" b="1" cap="none" spc="0" dirty="0">
                <a:ln w="12700" cmpd="sng">
                  <a:noFill/>
                  <a:prstDash val="solid"/>
                </a:ln>
                <a:gradFill flip="none" rotWithShape="1"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raniella" panose="02000500000000000000" pitchFamily="2" charset="0"/>
              </a:rPr>
              <a:t> rostro</a:t>
            </a:r>
          </a:p>
          <a:p>
            <a:pPr algn="r"/>
            <a:r>
              <a:rPr lang="en-US" sz="9600" b="1" cap="none" spc="0" dirty="0" err="1">
                <a:ln w="12700" cmpd="sng">
                  <a:noFill/>
                  <a:prstDash val="solid"/>
                </a:ln>
                <a:gradFill flip="none" rotWithShape="1"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raniella" panose="02000500000000000000" pitchFamily="2" charset="0"/>
              </a:rPr>
              <a:t>pondría</a:t>
            </a:r>
            <a:r>
              <a:rPr lang="en-US" sz="9600" b="1" cap="none" spc="0" dirty="0">
                <a:ln w="12700" cmpd="sng">
                  <a:noFill/>
                  <a:prstDash val="solid"/>
                </a:ln>
                <a:gradFill flip="none" rotWithShape="1"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raniella" panose="02000500000000000000" pitchFamily="2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67242168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7306D05-5D62-4533-2DEC-E1CE16A2D9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640447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3A3280E-3AE5-14FD-7C0E-661A44494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1660525"/>
            <a:ext cx="9677399" cy="800945"/>
          </a:xfrm>
        </p:spPr>
        <p:txBody>
          <a:bodyPr/>
          <a:lstStyle/>
          <a:p>
            <a:r>
              <a:rPr lang="es-MX" dirty="0"/>
              <a:t>SEIS MANERAS DE MINIMIZAR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FB1A26-A940-6A83-CF8E-30C63A99CF9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676400" y="2184400"/>
            <a:ext cx="9677400" cy="37268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sz="18000" dirty="0">
                <a:latin typeface="Oswald" pitchFamily="2" charset="0"/>
              </a:rPr>
              <a:t>EL PECADO</a:t>
            </a:r>
          </a:p>
        </p:txBody>
      </p:sp>
    </p:spTree>
    <p:extLst>
      <p:ext uri="{BB962C8B-B14F-4D97-AF65-F5344CB8AC3E}">
        <p14:creationId xmlns:p14="http://schemas.microsoft.com/office/powerpoint/2010/main" val="92305495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67D657BFBA35945B3F08057C1D72EB8" ma:contentTypeVersion="3" ma:contentTypeDescription="Create a new document." ma:contentTypeScope="" ma:versionID="d39436f4f1dad0bf48f2c695fe1202b0">
  <xsd:schema xmlns:xsd="http://www.w3.org/2001/XMLSchema" xmlns:xs="http://www.w3.org/2001/XMLSchema" xmlns:p="http://schemas.microsoft.com/office/2006/metadata/properties" xmlns:ns3="a685921f-f366-4ea7-84c8-5471bad9b71b" targetNamespace="http://schemas.microsoft.com/office/2006/metadata/properties" ma:root="true" ma:fieldsID="a7013409abdca6f35d7c8e42267422ab" ns3:_="">
    <xsd:import namespace="a685921f-f366-4ea7-84c8-5471bad9b71b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685921f-f366-4ea7-84c8-5471bad9b71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B29AA65-96A6-4F08-84D2-837ABDEE403D}">
  <ds:schemaRefs>
    <ds:schemaRef ds:uri="http://schemas.microsoft.com/office/infopath/2007/PartnerControls"/>
    <ds:schemaRef ds:uri="http://purl.org/dc/terms/"/>
    <ds:schemaRef ds:uri="http://schemas.microsoft.com/office/2006/documentManagement/types"/>
    <ds:schemaRef ds:uri="http://www.w3.org/XML/1998/namespace"/>
    <ds:schemaRef ds:uri="http://schemas.openxmlformats.org/package/2006/metadata/core-properties"/>
    <ds:schemaRef ds:uri="http://purl.org/dc/elements/1.1/"/>
    <ds:schemaRef ds:uri="http://purl.org/dc/dcmitype/"/>
    <ds:schemaRef ds:uri="a685921f-f366-4ea7-84c8-5471bad9b71b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984265E9-2ABB-451B-BCDF-224E1F0035E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685921f-f366-4ea7-84c8-5471bad9b71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B399A92-1C6B-40C6-B575-11C564D99E4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9001</TotalTime>
  <Words>887</Words>
  <Application>Microsoft Office PowerPoint</Application>
  <PresentationFormat>Panorámica</PresentationFormat>
  <Paragraphs>67</Paragraphs>
  <Slides>34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34</vt:i4>
      </vt:variant>
    </vt:vector>
  </HeadingPairs>
  <TitlesOfParts>
    <vt:vector size="43" baseType="lpstr">
      <vt:lpstr>Arial</vt:lpstr>
      <vt:lpstr>Autography</vt:lpstr>
      <vt:lpstr>Braniella</vt:lpstr>
      <vt:lpstr>Calibri</vt:lpstr>
      <vt:lpstr>Montserrat</vt:lpstr>
      <vt:lpstr>Montserrat SemiBold</vt:lpstr>
      <vt:lpstr>Oswald</vt:lpstr>
      <vt:lpstr>Yeseva One</vt:lpstr>
      <vt:lpstr>Tema de Office</vt:lpstr>
      <vt:lpstr>Presentación de PowerPoint</vt:lpstr>
      <vt:lpstr>Presentación de PowerPoint</vt:lpstr>
      <vt:lpstr>9 Dijo también Jesús esta parábola a unos que confiaban en sí mismos como justos, y despreciaban a los demás: </vt:lpstr>
      <vt:lpstr>10 «Dos hombres subieron al templo a orar; uno era fariseo y el otro recaudador de impuestos. </vt:lpstr>
      <vt:lpstr>11 »El fariseo puesto en pie, oraba para sí de esta manera: “Dios, te doy gracias porque no soy como los demás hombres: estafadores, injustos, adúlteros; ni aun como este recaudador de impuestos. </vt:lpstr>
      <vt:lpstr>12 ”Yo ayuno dos veces por semana; doy el diezmo de todo lo que gano”. </vt:lpstr>
      <vt:lpstr>13 »Pero el recaudador de impuestos, de pie y a cierta distancia, no quería ni siquiera alzar los ojos al cielo, sino que se golpeaba el pecho, diciendo: “Dios, ten piedad de mí, pecador”. </vt:lpstr>
      <vt:lpstr>Para pensar:</vt:lpstr>
      <vt:lpstr>18 Cierto hombre prominente le preguntó a Jesús: «Maestro bueno, ¿qué haré para heredar la vida eterna?». </vt:lpstr>
      <vt:lpstr>19 Jesús le respondió: «¿Por qué me llamas bueno? Nadie es bueno, sino solo uno, Dios. </vt:lpstr>
      <vt:lpstr>20 »Tú sabes los mandamientos: “No cometas adulterio, no mates, no hurtes, no des falso testimonio, honra a tu padre y a tu madre”». </vt:lpstr>
      <vt:lpstr>21 «Todo esto lo he guardado desde mi juventud», dijo el hombre. </vt:lpstr>
      <vt:lpstr>22 Cuando Jesús oyó esto, le dijo: «Te falta todavía una cosa; vende todo lo que tienes y reparte entre los pobres, y tendrás tesoro en los cielos; y ven, sígueme». </vt:lpstr>
      <vt:lpstr>23 Pero al oír esto, se puso muy triste, pues era sumamente rico. </vt:lpstr>
      <vt:lpstr>Para pensar: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UNA JUSTICIA LABORAL:</vt:lpstr>
      <vt:lpstr>UNA JUSTICIA FAMILIAR:</vt:lpstr>
      <vt:lpstr>UNA JUSTICIA TEOLÓGICA:</vt:lpstr>
      <vt:lpstr>UNA JUSTICIA INTELECTUAL:</vt:lpstr>
      <vt:lpstr>UNA JUSTICIA DE HORARIO:</vt:lpstr>
      <vt:lpstr>UNA JUSTICIA DE LA FLEXIBILIDAD:</vt:lpstr>
      <vt:lpstr>UNA JUSTICIA DE LA MISERICORDIA:</vt:lpstr>
      <vt:lpstr>UNA JUSTICIA LEGALISTA:</vt:lpstr>
      <vt:lpstr>UNA JUSTICIA FINANCIERA:</vt:lpstr>
      <vt:lpstr>UNA JUSTICIA POLÍTICA:</vt:lpstr>
      <vt:lpstr>UNA JUSTICIA DE LA TOLERANCIA:</vt:lpstr>
      <vt:lpstr>Presentación de PowerPoint</vt:lpstr>
      <vt:lpstr>Presentación de PowerPoint</vt:lpstr>
      <vt:lpstr>SEIS MANERAS DE MINIMIZAR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Enrique Villegas</dc:creator>
  <cp:lastModifiedBy>Enrique Villegas Valerio</cp:lastModifiedBy>
  <cp:revision>67</cp:revision>
  <dcterms:created xsi:type="dcterms:W3CDTF">2023-08-19T04:14:33Z</dcterms:created>
  <dcterms:modified xsi:type="dcterms:W3CDTF">2024-01-27T14:52:45Z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0x010100867D657BFBA35945B3F08057C1D72EB8</vt:lpwstr>
  </property>
</Properties>
</file>