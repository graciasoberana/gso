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703D"/>
          </a:solidFill>
          <a:ln w="12700">
            <a:solidFill>
              <a:srgbClr val="C470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de Bienvenida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11480" y="2240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4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 Soberana Orizaba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2926080"/>
            <a:ext cx="832104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9923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“Sean afectuosos unos con otros con amor fraternal; con honra, dándose preferencia unos a otros.”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Romanos 12:10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Equipo de Integración · 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existimos?  |  Base Bíblica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1031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2103120" cy="82296"/>
          </a:xfrm>
          <a:prstGeom prst="rect">
            <a:avLst/>
          </a:prstGeom>
          <a:solidFill>
            <a:srgbClr val="C4703D"/>
          </a:solidFill>
          <a:ln w="12700">
            <a:solidFill>
              <a:srgbClr val="C470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987552"/>
            <a:ext cx="502920" cy="502920"/>
          </a:xfrm>
          <a:prstGeom prst="ellipse">
            <a:avLst/>
          </a:prstGeom>
          <a:solidFill>
            <a:srgbClr val="C4703D"/>
          </a:solidFill>
          <a:ln w="12700">
            <a:solidFill>
              <a:srgbClr val="C47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2608" y="160020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evangelio nos hace un pueblo que recibe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2606040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recibió a pecadores que no lo merecían. Ese es el patrón que moldea cómo vivimos en comunidad. (Rom 5:1-2)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822960"/>
            <a:ext cx="21031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822960"/>
            <a:ext cx="2103120" cy="8229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987552"/>
            <a:ext cx="502920" cy="5029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32888" y="160020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iglesia es una familia que acoge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32888" y="2606040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hospitalidad no es opcional — es una expresión del carácter de Cristo. (Rom 12:10, 13; Heb 13:2)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822960"/>
            <a:ext cx="21031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822960"/>
            <a:ext cx="2103120" cy="822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58968" y="987552"/>
            <a:ext cx="502920" cy="5029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58968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773168" y="160020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corazón del buen pastor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73168" y="2606040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esperamos que el perdido llegue solo. Lo buscamos, lo recibimos, caminamos con él. (Lucas 15)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822960"/>
            <a:ext cx="210312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822960"/>
            <a:ext cx="2103120" cy="8229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99248" y="987552"/>
            <a:ext cx="502920" cy="50292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987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13448" y="1600200"/>
            <a:ext cx="188366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Fuimos llamados a hacer discípulos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13448" y="2606040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no termina cuando alguien regresa el segundo domingo. Termina cuando está enraizado en Cristo. (Mt 28:19-20)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47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Misión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Acompañar a cada persona desde su primer domingo hasta que se convierte en un discípulo activo de Jesucristo.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5943600" cy="64008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290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Modelando, de manera intencional, el amor y la gracia de Cristo en cada etapa del proceso.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Proceso de Integración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280160" y="1298448"/>
            <a:ext cx="146304" cy="8229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68680"/>
            <a:ext cx="749808" cy="749808"/>
          </a:xfrm>
          <a:prstGeom prst="ellipse">
            <a:avLst/>
          </a:prstGeom>
          <a:solidFill>
            <a:srgbClr val="C4703D"/>
          </a:solidFill>
          <a:ln w="12700">
            <a:solidFill>
              <a:srgbClr val="C47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68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" y="17373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Recibimiento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4592" y="23774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4592" y="278892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7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Recibimiento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42032" y="1298448"/>
            <a:ext cx="146304" cy="8229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9344" y="868680"/>
            <a:ext cx="749808" cy="74980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9344" y="868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26464" y="17373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Recepción*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26464" y="23774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426464" y="278892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habilitación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03904" y="1298448"/>
            <a:ext cx="146304" cy="8229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1216" y="868680"/>
            <a:ext cx="749808" cy="7498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71216" y="868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88336" y="17373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 Contacto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88336" y="23774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 – Vie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88336" y="278892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Seguimiento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65776" y="1298448"/>
            <a:ext cx="146304" cy="8229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33088" y="868680"/>
            <a:ext cx="749808" cy="74980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33088" y="868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950208" y="17373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Recepción de Bienvenida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50208" y="23774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3 meses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50208" y="278892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Recepción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27648" y="1298448"/>
            <a:ext cx="146304" cy="8229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868680"/>
            <a:ext cx="749808" cy="74980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868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212080" y="17373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 de Membresía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0" y="23774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semanas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12080" y="278892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Discipulado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589520" y="1298448"/>
            <a:ext cx="146304" cy="8229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56832" y="868680"/>
            <a:ext cx="749808" cy="749808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868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473952" y="17373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Bautismo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73952" y="23774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18704" y="868680"/>
            <a:ext cx="749808" cy="749808"/>
          </a:xfrm>
          <a:prstGeom prst="ellipse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18704" y="86868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735824" y="1737360"/>
            <a:ext cx="1115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Discipulado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735824" y="237744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64592" y="3657600"/>
            <a:ext cx="2523744" cy="256032"/>
          </a:xfrm>
          <a:prstGeom prst="rect">
            <a:avLst/>
          </a:prstGeom>
          <a:solidFill>
            <a:srgbClr val="C4703D">
              <a:alpha val="85000"/>
            </a:srgbClr>
          </a:solidFill>
          <a:ln w="12700">
            <a:solidFill>
              <a:srgbClr val="C4703D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4592" y="365760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Domingo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34640" y="3657600"/>
            <a:ext cx="1261872" cy="256032"/>
          </a:xfrm>
          <a:prstGeom prst="rect">
            <a:avLst/>
          </a:prstGeom>
          <a:solidFill>
            <a:srgbClr val="2980B9">
              <a:alpha val="85000"/>
            </a:srgbClr>
          </a:solidFill>
          <a:ln w="12700">
            <a:solidFill>
              <a:srgbClr val="2980B9">
                <a:alpha val="8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34640" y="36576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Semana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096512" y="3657600"/>
            <a:ext cx="1261872" cy="256032"/>
          </a:xfrm>
          <a:prstGeom prst="rect">
            <a:avLst/>
          </a:prstGeom>
          <a:solidFill>
            <a:srgbClr val="27AE60">
              <a:alpha val="85000"/>
            </a:srgbClr>
          </a:solidFill>
          <a:ln w="12700">
            <a:solidFill>
              <a:srgbClr val="27AE60">
                <a:alpha val="8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96512" y="3657600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Trimestral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58384" y="3657600"/>
            <a:ext cx="3749040" cy="256032"/>
          </a:xfrm>
          <a:prstGeom prst="rect">
            <a:avLst/>
          </a:prstGeom>
          <a:solidFill>
            <a:srgbClr val="2C3E50">
              <a:alpha val="85000"/>
            </a:srgbClr>
          </a:solidFill>
          <a:ln w="12700">
            <a:solidFill>
              <a:srgbClr val="2C3E50">
                <a:alpha val="8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58384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Formación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La Sala de Bienvenida está en proceso de habilitación provisional.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Nuestros Equipos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82296" cy="1828800"/>
          </a:xfrm>
          <a:prstGeom prst="rect">
            <a:avLst/>
          </a:prstGeom>
          <a:solidFill>
            <a:srgbClr val="C4703D"/>
          </a:solidFill>
          <a:ln w="12700">
            <a:solidFill>
              <a:srgbClr val="C47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Recibimiento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97480" y="932688"/>
            <a:ext cx="1645920" cy="256032"/>
          </a:xfrm>
          <a:prstGeom prst="rect">
            <a:avLst/>
          </a:prstGeom>
          <a:solidFill>
            <a:srgbClr val="C4703D"/>
          </a:solidFill>
          <a:ln w="12700">
            <a:solidFill>
              <a:srgbClr val="C47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932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 personas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 fraternal y sticker de bienvenida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obsequio + tarjeta durante anuncios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Biblia al inicio de la predicación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 visitantes a la caja de contacto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datos para el seguimiento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82296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22960"/>
            <a:ext cx="82296" cy="182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14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78040" y="932688"/>
            <a:ext cx="164592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932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En habilitación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132588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café y refrigerio de bienvenida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Envolver y preparar obsequios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la Recepción de Bienvenida trimestral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Orar por los visitantes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283464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834640"/>
            <a:ext cx="82296" cy="18288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97480" y="2944368"/>
            <a:ext cx="1645920" cy="2560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2944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Pastor + equipo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333756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Mié–Vie a TODOS los visitantes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al pastor necesidades identificadas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Planear visitas según necesidades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registro actualizado del proceso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834640"/>
            <a:ext cx="42519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34640"/>
            <a:ext cx="82296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Discipulado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78040" y="2944368"/>
            <a:ext cx="164592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2944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Equipo Arraigados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3337560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Impartir el Curso de Membresía (14 semanas)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Acompañar integración a contextos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principios bíblicos del currículo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Recepción de Bienvenida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9844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espacio íntimo y cálido, cada tres meses, donde los visitantes recientes conocen mejor a la iglesia, hacen preguntas y dan un siguiente paso en su caminar con Cristo.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2514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invita?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944368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invitación ocurre en el momento de mayor apertura — en la recepción del domingo, el equipo invita personalmente al visitante a la próxima fecha. El seguimiento de la semana confirma asistencia.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804672"/>
            <a:ext cx="54864" cy="406908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del evento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353312"/>
            <a:ext cx="4114800" cy="731520"/>
          </a:xfrm>
          <a:prstGeom prst="rect">
            <a:avLst/>
          </a:prstGeom>
          <a:solidFill>
            <a:srgbClr val="F0F9F4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39903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7800" y="14081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Bienvenida e integración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1719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para conocerse y romper el hielo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221992"/>
            <a:ext cx="4114800" cy="731520"/>
          </a:xfrm>
          <a:prstGeom prst="rect">
            <a:avLst/>
          </a:prstGeom>
          <a:solidFill>
            <a:srgbClr val="F0F9F4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22677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57800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Conoce GSO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25877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Charla informal: quiénes somos y a dónde vamos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090672"/>
            <a:ext cx="4114800" cy="731520"/>
          </a:xfrm>
          <a:prstGeom prst="rect">
            <a:avLst/>
          </a:prstGeom>
          <a:solidFill>
            <a:srgbClr val="F0F9F4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1363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57800" y="3145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personal al Curso de Membresía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959352"/>
            <a:ext cx="4114800" cy="731520"/>
          </a:xfrm>
          <a:prstGeom prst="rect">
            <a:avLst/>
          </a:prstGeom>
          <a:solidFill>
            <a:srgbClr val="F0F9F4"/>
          </a:solidFill>
          <a:ln w="6350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400507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☕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57800" y="4014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Convivio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4325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break con pastel  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Rol del Líder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685800"/>
          </a:xfrm>
          <a:prstGeom prst="rect">
            <a:avLst/>
          </a:prstGeom>
          <a:solidFill>
            <a:srgbClr val="FEF9F6"/>
          </a:solidFill>
          <a:ln w="6350">
            <a:solidFill>
              <a:srgbClr val="F0D5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líder no es simplemente un coordinador logístico — es alguien que encarna las virtudes del evangelio: hospitalidad, servicio y cuidado genuino por las personas.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3931920" cy="347472"/>
          </a:xfrm>
          <a:prstGeom prst="rect">
            <a:avLst/>
          </a:prstGeom>
          <a:solidFill>
            <a:srgbClr val="C4703D"/>
          </a:solidFill>
          <a:ln w="12700">
            <a:solidFill>
              <a:srgbClr val="C47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Dirigir, equipar y cuidar a los miembros de cada sub-equipo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Velar por la consistencia del proceso de integración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las fechas de la Recepción de Bienvenida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comunicación cercana con el pastor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áreas de mejora y proponer ajustes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600200"/>
            <a:ext cx="54864" cy="329184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600200"/>
            <a:ext cx="393192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002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029968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Miembro comprometido de Gracia Soberana Orizaba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Corazón genuino por las personas y por el evangelio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para organizar, delegar y dar seguimiento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los domingos y para reuniones de coordinación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931920"/>
            <a:ext cx="3931920" cy="68580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977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en proceso:  </a:t>
            </a:r>
            <a:pPr indent="0" marL="0">
              <a:buNone/>
            </a:pPr>
            <a:r>
              <a:rPr lang="en-US" sz="11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Quique Fonseca → Aldo Méndez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Acción · Abril 2026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1664208" cy="530352"/>
          </a:xfrm>
          <a:prstGeom prst="rect">
            <a:avLst/>
          </a:prstGeom>
          <a:solidFill>
            <a:srgbClr val="C4703D"/>
          </a:solidFill>
          <a:ln w="12700">
            <a:solidFill>
              <a:srgbClr val="C47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abr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37160" y="1307592"/>
            <a:ext cx="16642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99032"/>
            <a:ext cx="148132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documento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resumen para citas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20240" y="777240"/>
            <a:ext cx="1664208" cy="5303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77724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abr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20240" y="1307592"/>
            <a:ext cx="16642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399032"/>
            <a:ext cx="148132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en multimedia convocando nuevos miembros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03320" y="777240"/>
            <a:ext cx="1664208" cy="5303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77724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abr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03320" y="1307592"/>
            <a:ext cx="16642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399032"/>
            <a:ext cx="148132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con Aldo Méndez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con Gerón Pérez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con Quique Fonseca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con equipo actual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0" y="777240"/>
            <a:ext cx="1664208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77724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abr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1307592"/>
            <a:ext cx="16642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399032"/>
            <a:ext cx="148132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Convocar nuevos miembros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Calendarizar Recepciones del año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69480" y="777240"/>
            <a:ext cx="1664208" cy="5303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777240"/>
            <a:ext cx="1572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abril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69480" y="1307592"/>
            <a:ext cx="16642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1399032"/>
            <a:ext cx="1481328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Sala provisional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equipo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en funciones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pública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C4703D">
              <a:alpha val="18000"/>
            </a:srgbClr>
          </a:solidFill>
          <a:ln w="12700">
            <a:solidFill>
              <a:srgbClr val="C4703D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2980B9">
              <a:alpha val="15000"/>
            </a:srgbClr>
          </a:solidFill>
          <a:ln w="12700">
            <a:solidFill>
              <a:srgbClr val="2980B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703D"/>
          </a:solidFill>
          <a:ln w="12700">
            <a:solidFill>
              <a:srgbClr val="C470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858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¡Bienvenido al Equipo!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5943600" cy="64008"/>
          </a:xfrm>
          <a:prstGeom prst="rect">
            <a:avLst/>
          </a:prstGeom>
          <a:solidFill>
            <a:srgbClr val="C4703D"/>
          </a:solidFill>
          <a:ln w="12700">
            <a:solidFill>
              <a:srgbClr val="C47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5740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 todo lo que hagan, háganlo de corazón, como para el Señor y no para los hombres,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sabiendo que del Señor recibirán la recompensa de la herencia.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a Cristo el Señor a quien sirven.”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Colosenses 3:23-24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 Soberana Orizaba · Equipo de Integración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Equipo de Bienvenida - Onboarding GSO</dc:title>
  <dc:subject>PptxGenJS Presentation</dc:subject>
  <dc:creator>PptxGenJS</dc:creator>
  <cp:lastModifiedBy>PptxGenJS</cp:lastModifiedBy>
  <cp:revision>1</cp:revision>
  <dcterms:created xsi:type="dcterms:W3CDTF">2026-04-01T19:18:28Z</dcterms:created>
  <dcterms:modified xsi:type="dcterms:W3CDTF">2026-04-01T19:18:28Z</dcterms:modified>
</cp:coreProperties>
</file>